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Inter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6f9c3d8fc_0_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6f9c3d8fc_0_1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6f9c3d8fc_0_3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6f9c3d8fc_0_6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6f9c3d8fc_0_7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6f9c3d8fc_0_9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6f9c3d8fc_0_11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6f9c3d8fc_0_30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6f9c3d8fc_0_14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6f9c3d8fc_0_17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6f9c3d8fc_0_16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6f9c3d8fc_0_19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6f9c3d8fc_0_21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6f9c3d8fc_0_23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e6f9c3d8fc_0_24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6f9c3d8fc_0_25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6f9c3d8fc_6_0)">
  <p:cSld name="Generated (g3e6f9c3d8fc_6_0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6.png"/><Relationship Id="rId6" Type="http://schemas.openxmlformats.org/officeDocument/2006/relationships/image" Target="../media/image5.png"/><Relationship Id="rId7" Type="http://schemas.openxmlformats.org/officeDocument/2006/relationships/image" Target="../media/image4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48.jpg"/><Relationship Id="rId7" Type="http://schemas.openxmlformats.org/officeDocument/2006/relationships/image" Target="../media/image5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jp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50.jpg"/><Relationship Id="rId5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4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4"/>
          <p:cNvGrpSpPr/>
          <p:nvPr/>
        </p:nvGrpSpPr>
        <p:grpSpPr>
          <a:xfrm>
            <a:off x="0" y="0"/>
            <a:ext cx="9144000" cy="4857750"/>
            <a:chOff x="459625" y="197725"/>
            <a:chExt cx="9144000" cy="4857750"/>
          </a:xfrm>
        </p:grpSpPr>
        <p:pic>
          <p:nvPicPr>
            <p:cNvPr id="87" name="Google Shape;8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9625" y="197725"/>
              <a:ext cx="9144000" cy="20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4"/>
            <p:cNvPicPr preferRelativeResize="0"/>
            <p:nvPr/>
          </p:nvPicPr>
          <p:blipFill rotWithShape="1">
            <a:blip r:embed="rId4">
              <a:alphaModFix/>
            </a:blip>
            <a:srcRect b="40" l="0" r="0" t="50"/>
            <a:stretch/>
          </p:blipFill>
          <p:spPr>
            <a:xfrm>
              <a:off x="840625" y="483475"/>
              <a:ext cx="8382000" cy="457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0625" y="4834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51125" y="44839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p14"/>
          <p:cNvSpPr txBox="1"/>
          <p:nvPr/>
        </p:nvSpPr>
        <p:spPr>
          <a:xfrm>
            <a:off x="571500" y="47625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</a:t>
            </a:r>
            <a:endParaRPr b="1" sz="36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i="1" lang="en" sz="20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Internship Recommendation System</a:t>
            </a:r>
            <a:endParaRPr b="0" i="1" sz="20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3619500" y="1476375"/>
            <a:ext cx="1905000" cy="192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52500" y="1571625"/>
            <a:ext cx="7239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Submitted in Partial Fulfillment of the Requirements for the Award of Degree of</a:t>
            </a:r>
            <a:endParaRPr sz="11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52500" y="1809750"/>
            <a:ext cx="723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65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Technology</a:t>
            </a:r>
            <a:endParaRPr b="1" sz="1665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  <a:endParaRPr b="0" sz="1295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952500" y="2381250"/>
            <a:ext cx="7239000" cy="1047900"/>
            <a:chOff x="1483025" y="3159675"/>
            <a:chExt cx="7239000" cy="1047900"/>
          </a:xfrm>
        </p:grpSpPr>
        <p:sp>
          <p:nvSpPr>
            <p:cNvPr id="96" name="Google Shape;96;p14"/>
            <p:cNvSpPr/>
            <p:nvPr/>
          </p:nvSpPr>
          <p:spPr>
            <a:xfrm>
              <a:off x="1483025" y="3159675"/>
              <a:ext cx="3429000" cy="10479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5293025" y="3159675"/>
              <a:ext cx="3429000" cy="10479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1143000" y="2476500"/>
            <a:ext cx="3048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  <a:endParaRPr b="1" sz="11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Asit Kumar </a:t>
            </a:r>
            <a:r>
              <a:rPr b="0" lang="en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(2200350100018)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Dheeraj Kumar </a:t>
            </a:r>
            <a:r>
              <a:rPr b="0" lang="en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(2200350100023)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Tushar Sharma </a:t>
            </a:r>
            <a:r>
              <a:rPr b="0" lang="en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(2200350100068)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953000" y="2476500"/>
            <a:ext cx="3048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Guide:</a:t>
            </a:r>
            <a:endParaRPr b="1" sz="11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Shwetav Sharad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3808362"/>
            <a:ext cx="7620000" cy="57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Babu Banarasi Das Institute of Technology (BBDIT)</a:t>
            </a:r>
            <a:endParaRPr b="1" sz="12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Ghaziabad, Uttar Pradesh</a:t>
            </a:r>
            <a:endParaRPr b="0" sz="10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A.P.J. Abdul Kalam Technical University, Lucknow</a:t>
            </a:r>
            <a:endParaRPr b="1" sz="12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14"/>
          <p:cNvGrpSpPr/>
          <p:nvPr/>
        </p:nvGrpSpPr>
        <p:grpSpPr>
          <a:xfrm>
            <a:off x="4191000" y="4857750"/>
            <a:ext cx="762000" cy="238200"/>
            <a:chOff x="4191000" y="4857750"/>
            <a:chExt cx="762000" cy="238200"/>
          </a:xfrm>
        </p:grpSpPr>
        <p:sp>
          <p:nvSpPr>
            <p:cNvPr id="102" name="Google Shape;102;p14"/>
            <p:cNvSpPr/>
            <p:nvPr/>
          </p:nvSpPr>
          <p:spPr>
            <a:xfrm>
              <a:off x="4191000" y="4857750"/>
              <a:ext cx="762000" cy="238200"/>
            </a:xfrm>
            <a:prstGeom prst="roundRect">
              <a:avLst>
                <a:gd fmla="val 20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4191000" y="4857750"/>
              <a:ext cx="762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2026</a:t>
              </a:r>
              <a:endParaRPr b="1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04" name="Google Shape;104;p14"/>
          <p:cNvPicPr preferRelativeResize="0"/>
          <p:nvPr/>
        </p:nvPicPr>
        <p:blipFill rotWithShape="1">
          <a:blip r:embed="rId7">
            <a:alphaModFix/>
          </a:blip>
          <a:srcRect b="367" l="0" r="0" t="377"/>
          <a:stretch/>
        </p:blipFill>
        <p:spPr>
          <a:xfrm>
            <a:off x="3731775" y="3714825"/>
            <a:ext cx="14502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381000" y="285750"/>
            <a:ext cx="8382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381000" y="285750"/>
            <a:ext cx="8382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428625" y="333375"/>
            <a:ext cx="8286900" cy="4476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4775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428625" y="333375"/>
            <a:ext cx="8286900" cy="4476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4775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2387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 Statement</a:t>
            </a:r>
            <a:endParaRPr b="1" sz="296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238250" y="1000125"/>
            <a:ext cx="666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3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portals lack personalization and intelligent matching, creating a disconnect in the ecosystem.</a:t>
            </a:r>
            <a:endParaRPr b="0" i="1" sz="1203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4" name="Google Shape;114;p15"/>
          <p:cNvGrpSpPr/>
          <p:nvPr/>
        </p:nvGrpSpPr>
        <p:grpSpPr>
          <a:xfrm>
            <a:off x="666750" y="1524000"/>
            <a:ext cx="2476500" cy="2190900"/>
            <a:chOff x="666750" y="1524000"/>
            <a:chExt cx="2476500" cy="2190900"/>
          </a:xfrm>
        </p:grpSpPr>
        <p:sp>
          <p:nvSpPr>
            <p:cNvPr id="115" name="Google Shape;115;p15"/>
            <p:cNvSpPr/>
            <p:nvPr/>
          </p:nvSpPr>
          <p:spPr>
            <a:xfrm>
              <a:off x="66675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666750" y="1524000"/>
              <a:ext cx="2476500" cy="476400"/>
            </a:xfrm>
            <a:prstGeom prst="roundRect">
              <a:avLst>
                <a:gd fmla="val 24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762000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1190625" y="1571625"/>
              <a:ext cx="1857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Students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809625" y="2095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Pain Points</a:t>
              </a:r>
              <a:endParaRPr b="1" sz="13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personalized recommendations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Apply to irrelevant internships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Time-consuming manual search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3333750" y="1524000"/>
            <a:ext cx="2476500" cy="2190900"/>
            <a:chOff x="3333750" y="1524000"/>
            <a:chExt cx="2476500" cy="2190900"/>
          </a:xfrm>
        </p:grpSpPr>
        <p:sp>
          <p:nvSpPr>
            <p:cNvPr id="121" name="Google Shape;121;p15"/>
            <p:cNvSpPr/>
            <p:nvPr/>
          </p:nvSpPr>
          <p:spPr>
            <a:xfrm>
              <a:off x="333375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333750" y="1524000"/>
              <a:ext cx="2476500" cy="476400"/>
            </a:xfrm>
            <a:prstGeom prst="roundRect">
              <a:avLst>
                <a:gd fmla="val 24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3429000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work_outline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3857625" y="1571625"/>
              <a:ext cx="1857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Recruiters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3476625" y="2095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Operational Hurdles</a:t>
              </a:r>
              <a:endParaRPr b="1" sz="13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Too many irrelevant applications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Difficult candidate filtering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Inefficient hiring process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6000750" y="1524000"/>
            <a:ext cx="2476500" cy="2190900"/>
            <a:chOff x="6000750" y="1524000"/>
            <a:chExt cx="2476500" cy="2190900"/>
          </a:xfrm>
        </p:grpSpPr>
        <p:sp>
          <p:nvSpPr>
            <p:cNvPr id="127" name="Google Shape;127;p15"/>
            <p:cNvSpPr/>
            <p:nvPr/>
          </p:nvSpPr>
          <p:spPr>
            <a:xfrm>
              <a:off x="600075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6000750" y="1524000"/>
              <a:ext cx="2476500" cy="476400"/>
            </a:xfrm>
            <a:prstGeom prst="roundRect">
              <a:avLst>
                <a:gd fmla="val 24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6096000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6524625" y="1571625"/>
              <a:ext cx="166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Limitations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6143625" y="2095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Technical Gaps</a:t>
              </a:r>
              <a:endParaRPr b="1" sz="13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AI-based matching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Static job listings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resume-based analysis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2" name="Google Shape;132;p15"/>
          <p:cNvSpPr/>
          <p:nvPr/>
        </p:nvSpPr>
        <p:spPr>
          <a:xfrm>
            <a:off x="666750" y="3905250"/>
            <a:ext cx="7810500" cy="666900"/>
          </a:xfrm>
          <a:prstGeom prst="roundRect">
            <a:avLst>
              <a:gd fmla="val 11428" name="adj"/>
            </a:avLst>
          </a:prstGeom>
          <a:solidFill>
            <a:srgbClr val="FEE2E2"/>
          </a:solidFill>
          <a:ln cap="flat" cmpd="sng" w="143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57250" y="4047236"/>
            <a:ext cx="476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error_outline</a:t>
            </a:r>
            <a:endParaRPr b="0" sz="2960">
              <a:solidFill>
                <a:srgbClr val="EF444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1428750" y="3905250"/>
            <a:ext cx="69534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B9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Challenge</a:t>
            </a:r>
            <a:endParaRPr b="1" sz="1500">
              <a:solidFill>
                <a:srgbClr val="B9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mismatch between student skills and internship requirements leads to lost opportunities for both parties.</a:t>
            </a:r>
            <a:endParaRPr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4667250"/>
            <a:ext cx="800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b="0" sz="9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381000" y="285750"/>
            <a:ext cx="8382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428625" y="333375"/>
            <a:ext cx="8286900" cy="4476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4775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476250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</a:t>
            </a:r>
            <a:endParaRPr b="1" sz="28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238250" y="952500"/>
            <a:ext cx="6667500" cy="381000"/>
          </a:xfrm>
          <a:prstGeom prst="roundRect">
            <a:avLst>
              <a:gd fmla="val 50000" name="adj"/>
            </a:avLst>
          </a:prstGeom>
          <a:solidFill>
            <a:srgbClr val="E1E8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333500" y="952500"/>
            <a:ext cx="647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AI-powered platform providing </a:t>
            </a:r>
            <a:r>
              <a:rPr b="1" i="1" lang="en" sz="12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recommendations</a:t>
            </a:r>
            <a:r>
              <a:rPr b="0" i="1" lang="en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based on student skills.</a:t>
            </a:r>
            <a:endParaRPr b="0" i="1"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5" name="Google Shape;145;p16"/>
          <p:cNvGrpSpPr/>
          <p:nvPr/>
        </p:nvGrpSpPr>
        <p:grpSpPr>
          <a:xfrm>
            <a:off x="619125" y="1524000"/>
            <a:ext cx="2619300" cy="2238300"/>
            <a:chOff x="619125" y="1524000"/>
            <a:chExt cx="2619300" cy="2238300"/>
          </a:xfrm>
        </p:grpSpPr>
        <p:sp>
          <p:nvSpPr>
            <p:cNvPr id="146" name="Google Shape;146;p16"/>
            <p:cNvSpPr/>
            <p:nvPr/>
          </p:nvSpPr>
          <p:spPr>
            <a:xfrm>
              <a:off x="619125" y="1524000"/>
              <a:ext cx="2619300" cy="2238300"/>
            </a:xfrm>
            <a:prstGeom prst="roundRect">
              <a:avLst>
                <a:gd fmla="val 4255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619125" y="1524000"/>
              <a:ext cx="2619300" cy="381000"/>
            </a:xfrm>
            <a:prstGeom prst="roundRect">
              <a:avLst>
                <a:gd fmla="val 25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714375" y="159791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1047750" y="1524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Main Features</a:t>
              </a:r>
              <a:endParaRPr b="1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762000" y="2000250"/>
              <a:ext cx="2381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AI-based </a:t>
              </a:r>
              <a:r>
                <a:rPr b="1" lang="en" sz="10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resume analysis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Personalized recommendations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1" lang="en" sz="10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NLP</a:t>
              </a: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skill extraction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tracking system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Role-based access control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1" name="Google Shape;151;p16"/>
          <p:cNvGrpSpPr/>
          <p:nvPr/>
        </p:nvGrpSpPr>
        <p:grpSpPr>
          <a:xfrm>
            <a:off x="3381375" y="1524000"/>
            <a:ext cx="2381400" cy="2238300"/>
            <a:chOff x="3381375" y="1524000"/>
            <a:chExt cx="2381400" cy="2238300"/>
          </a:xfrm>
        </p:grpSpPr>
        <p:sp>
          <p:nvSpPr>
            <p:cNvPr id="152" name="Google Shape;152;p16"/>
            <p:cNvSpPr/>
            <p:nvPr/>
          </p:nvSpPr>
          <p:spPr>
            <a:xfrm>
              <a:off x="3381375" y="1524000"/>
              <a:ext cx="2381400" cy="2238300"/>
            </a:xfrm>
            <a:prstGeom prst="roundRect">
              <a:avLst>
                <a:gd fmla="val 4255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3381375" y="1524000"/>
              <a:ext cx="2381400" cy="381000"/>
            </a:xfrm>
            <a:prstGeom prst="roundRect">
              <a:avLst>
                <a:gd fmla="val 25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3476625" y="159791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3810000" y="1524000"/>
              <a:ext cx="1857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Highlights</a:t>
              </a:r>
              <a:endParaRPr b="1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3524250" y="2000250"/>
              <a:ext cx="21432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1" lang="en" sz="10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Smart Matching</a:t>
              </a: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Skill-based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1" lang="en" sz="10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Engine</a:t>
              </a: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TF-IDF &amp; Cosine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1" lang="en" sz="10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Automation</a:t>
              </a: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Zero manual entry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1" lang="en" sz="10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Efficiency</a:t>
              </a: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Faster recruitment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7" name="Google Shape;157;p16"/>
          <p:cNvGrpSpPr/>
          <p:nvPr/>
        </p:nvGrpSpPr>
        <p:grpSpPr>
          <a:xfrm>
            <a:off x="5905500" y="1524000"/>
            <a:ext cx="2619300" cy="2238300"/>
            <a:chOff x="5905500" y="1524000"/>
            <a:chExt cx="2619300" cy="2238300"/>
          </a:xfrm>
        </p:grpSpPr>
        <p:sp>
          <p:nvSpPr>
            <p:cNvPr id="158" name="Google Shape;158;p16"/>
            <p:cNvSpPr/>
            <p:nvPr/>
          </p:nvSpPr>
          <p:spPr>
            <a:xfrm>
              <a:off x="5905500" y="1524000"/>
              <a:ext cx="2619300" cy="2238300"/>
            </a:xfrm>
            <a:prstGeom prst="roundRect">
              <a:avLst>
                <a:gd fmla="val 4255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5905500" y="1524000"/>
              <a:ext cx="2619300" cy="381000"/>
            </a:xfrm>
            <a:prstGeom prst="roundRect">
              <a:avLst>
                <a:gd fmla="val 25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6000750" y="159791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1" name="Google Shape;161;p16"/>
            <p:cNvSpPr txBox="1"/>
            <p:nvPr/>
          </p:nvSpPr>
          <p:spPr>
            <a:xfrm>
              <a:off x="6334125" y="1524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Solved</a:t>
              </a:r>
              <a:endParaRPr b="1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6048375" y="2000250"/>
              <a:ext cx="2381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Reduces irrelevant applications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Saves time for all stakeholders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Improves </a:t>
              </a:r>
              <a:r>
                <a:rPr b="1" lang="en" sz="10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hiring accuracy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Times New Roman"/>
                <a:buChar char="●"/>
              </a:pPr>
              <a:r>
                <a:rPr b="0" lang="en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Data-driven decision system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3" name="Google Shape;163;p16"/>
          <p:cNvSpPr/>
          <p:nvPr/>
        </p:nvSpPr>
        <p:spPr>
          <a:xfrm>
            <a:off x="666750" y="3952875"/>
            <a:ext cx="7810500" cy="619200"/>
          </a:xfrm>
          <a:prstGeom prst="roundRect">
            <a:avLst>
              <a:gd fmla="val 12307" name="adj"/>
            </a:avLst>
          </a:prstGeom>
          <a:solidFill>
            <a:srgbClr val="E0F2F1"/>
          </a:solidFill>
          <a:ln cap="flat" cmpd="sng" w="9525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09625" y="4041394"/>
            <a:ext cx="4764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897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auto_awesome</a:t>
            </a:r>
            <a:endParaRPr sz="2800">
              <a:solidFill>
                <a:srgbClr val="00897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1381125" y="3952875"/>
            <a:ext cx="69534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Result:</a:t>
            </a:r>
            <a:r>
              <a:rPr b="0" lang="en" sz="1200">
                <a:solidFill>
                  <a:srgbClr val="0069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seamless bridge between student potential and industry requirements using </a:t>
            </a:r>
            <a:r>
              <a:rPr b="1" lang="en" sz="12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Machine Learning</a:t>
            </a:r>
            <a:r>
              <a:rPr b="0" lang="en" sz="1200">
                <a:solidFill>
                  <a:srgbClr val="0069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sz="1200">
              <a:solidFill>
                <a:srgbClr val="0069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571500" y="4667250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sz="9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276225"/>
            <a:ext cx="8401200" cy="45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4762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System Features</a:t>
            </a:r>
            <a:endParaRPr b="1" sz="296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90487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capabilities of the AI-Powered Recommendation platform</a:t>
            </a:r>
            <a:endParaRPr b="0" i="1" sz="14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4" name="Google Shape;174;p17"/>
          <p:cNvGrpSpPr/>
          <p:nvPr/>
        </p:nvGrpSpPr>
        <p:grpSpPr>
          <a:xfrm>
            <a:off x="571500" y="1428750"/>
            <a:ext cx="2381400" cy="1047900"/>
            <a:chOff x="0" y="0"/>
            <a:chExt cx="2381400" cy="1047900"/>
          </a:xfrm>
        </p:grpSpPr>
        <p:sp>
          <p:nvSpPr>
            <p:cNvPr id="175" name="Google Shape;175;p17"/>
            <p:cNvSpPr/>
            <p:nvPr/>
          </p:nvSpPr>
          <p:spPr>
            <a:xfrm>
              <a:off x="0" y="0"/>
              <a:ext cx="2381400" cy="10479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142875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98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FF98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571500" y="1428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Resume Analysis</a:t>
              </a:r>
              <a:endParaRPr b="1" sz="14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142875" y="4762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Extracts skills automatically using advanced NLP for parsing.</a:t>
              </a:r>
              <a:endParaRPr b="0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9" name="Google Shape;179;p17"/>
          <p:cNvGrpSpPr/>
          <p:nvPr/>
        </p:nvGrpSpPr>
        <p:grpSpPr>
          <a:xfrm>
            <a:off x="3143250" y="1428750"/>
            <a:ext cx="2381400" cy="1047900"/>
            <a:chOff x="0" y="0"/>
            <a:chExt cx="2381400" cy="1047900"/>
          </a:xfrm>
        </p:grpSpPr>
        <p:sp>
          <p:nvSpPr>
            <p:cNvPr id="180" name="Google Shape;180;p17"/>
            <p:cNvSpPr/>
            <p:nvPr/>
          </p:nvSpPr>
          <p:spPr>
            <a:xfrm>
              <a:off x="0" y="0"/>
              <a:ext cx="2381400" cy="10479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142875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98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2400">
                <a:solidFill>
                  <a:srgbClr val="FF98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571500" y="1428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Smart Matching</a:t>
              </a:r>
              <a:endParaRPr b="1" sz="14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142875" y="4762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Matches student skills with internships via ML algorithms.</a:t>
              </a:r>
              <a:endParaRPr b="0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" name="Google Shape;184;p17"/>
          <p:cNvGrpSpPr/>
          <p:nvPr/>
        </p:nvGrpSpPr>
        <p:grpSpPr>
          <a:xfrm>
            <a:off x="571500" y="2667000"/>
            <a:ext cx="2381400" cy="1047900"/>
            <a:chOff x="0" y="0"/>
            <a:chExt cx="2381400" cy="1047900"/>
          </a:xfrm>
        </p:grpSpPr>
        <p:sp>
          <p:nvSpPr>
            <p:cNvPr id="185" name="Google Shape;185;p17"/>
            <p:cNvSpPr/>
            <p:nvPr/>
          </p:nvSpPr>
          <p:spPr>
            <a:xfrm>
              <a:off x="0" y="0"/>
              <a:ext cx="2381400" cy="10479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142875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98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2400">
                <a:solidFill>
                  <a:srgbClr val="FF98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7" name="Google Shape;187;p17"/>
            <p:cNvSpPr txBox="1"/>
            <p:nvPr/>
          </p:nvSpPr>
          <p:spPr>
            <a:xfrm>
              <a:off x="571500" y="1428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Tracking</a:t>
              </a:r>
              <a:endParaRPr b="1" sz="14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142875" y="4762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Real-time status updates and structured hiring workflow.</a:t>
              </a:r>
              <a:endParaRPr b="0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9" name="Google Shape;189;p17"/>
          <p:cNvGrpSpPr/>
          <p:nvPr/>
        </p:nvGrpSpPr>
        <p:grpSpPr>
          <a:xfrm>
            <a:off x="3143250" y="2667000"/>
            <a:ext cx="2381400" cy="1047900"/>
            <a:chOff x="0" y="0"/>
            <a:chExt cx="2381400" cy="1047900"/>
          </a:xfrm>
        </p:grpSpPr>
        <p:sp>
          <p:nvSpPr>
            <p:cNvPr id="190" name="Google Shape;190;p17"/>
            <p:cNvSpPr/>
            <p:nvPr/>
          </p:nvSpPr>
          <p:spPr>
            <a:xfrm>
              <a:off x="0" y="0"/>
              <a:ext cx="2381400" cy="10479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142875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98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400">
                <a:solidFill>
                  <a:srgbClr val="FF98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571500" y="1428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Secure RBAC</a:t>
              </a:r>
              <a:endParaRPr b="1" sz="14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142875" y="4762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 Student, Company, and Admin secure access roles.</a:t>
              </a:r>
              <a:endParaRPr b="0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4" name="Google Shape;194;p17"/>
          <p:cNvGrpSpPr/>
          <p:nvPr/>
        </p:nvGrpSpPr>
        <p:grpSpPr>
          <a:xfrm>
            <a:off x="5705475" y="1419225"/>
            <a:ext cx="2876701" cy="3257701"/>
            <a:chOff x="-9525" y="-9525"/>
            <a:chExt cx="2876701" cy="3257701"/>
          </a:xfrm>
        </p:grpSpPr>
        <p:pic>
          <p:nvPicPr>
            <p:cNvPr id="195" name="Google Shape;19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modern, clean web dashboard user interface for an internship portal showing graphs, candidate lists, and AI matching scores. Minimalist startup aesthetic, soft shadows, blue and white theme." id="196" name="Google Shape;196;p17"/>
            <p:cNvPicPr preferRelativeResize="0"/>
            <p:nvPr/>
          </p:nvPicPr>
          <p:blipFill rotWithShape="1">
            <a:blip r:embed="rId6">
              <a:alphaModFix/>
            </a:blip>
            <a:srcRect b="7505" l="0" r="0" t="7497"/>
            <a:stretch/>
          </p:blipFill>
          <p:spPr>
            <a:xfrm>
              <a:off x="0" y="0"/>
              <a:ext cx="2857500" cy="3238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pic>
          <p:nvPicPr>
            <p:cNvPr id="197" name="Google Shape;197;p17" title="Screenshot 2026-05-02 232717.png"/>
            <p:cNvPicPr preferRelativeResize="0"/>
            <p:nvPr/>
          </p:nvPicPr>
          <p:blipFill rotWithShape="1">
            <a:blip r:embed="rId7">
              <a:alphaModFix/>
            </a:blip>
            <a:srcRect b="0" l="25906" r="25906" t="0"/>
            <a:stretch/>
          </p:blipFill>
          <p:spPr>
            <a:xfrm>
              <a:off x="-9525" y="-9525"/>
              <a:ext cx="2876701" cy="3257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7"/>
            <p:cNvSpPr txBox="1"/>
            <p:nvPr/>
          </p:nvSpPr>
          <p:spPr>
            <a:xfrm>
              <a:off x="190500" y="2286150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254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UI</a:t>
              </a:r>
              <a:endParaRPr b="1" sz="1200">
                <a:solidFill>
                  <a:srgbClr val="0A25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9" name="Google Shape;199;p17"/>
          <p:cNvSpPr txBox="1"/>
          <p:nvPr/>
        </p:nvSpPr>
        <p:spPr>
          <a:xfrm>
            <a:off x="571500" y="4667250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b="0" sz="9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/>
          <p:nvPr/>
        </p:nvSpPr>
        <p:spPr>
          <a:xfrm>
            <a:off x="381000" y="285750"/>
            <a:ext cx="8382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428625" y="333375"/>
            <a:ext cx="8286900" cy="4476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4775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571500" y="476250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b="1" sz="296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571500" y="904875"/>
            <a:ext cx="800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powering the platform</a:t>
            </a:r>
            <a:endParaRPr b="0" i="1" sz="14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8" name="Google Shape;208;p18"/>
          <p:cNvGrpSpPr/>
          <p:nvPr/>
        </p:nvGrpSpPr>
        <p:grpSpPr>
          <a:xfrm>
            <a:off x="571500" y="1428750"/>
            <a:ext cx="2476500" cy="2190900"/>
            <a:chOff x="571500" y="1428750"/>
            <a:chExt cx="2476500" cy="2190900"/>
          </a:xfrm>
        </p:grpSpPr>
        <p:sp>
          <p:nvSpPr>
            <p:cNvPr id="209" name="Google Shape;209;p18"/>
            <p:cNvSpPr/>
            <p:nvPr/>
          </p:nvSpPr>
          <p:spPr>
            <a:xfrm>
              <a:off x="571500" y="1428750"/>
              <a:ext cx="24765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571500" y="1428750"/>
              <a:ext cx="2476500" cy="381000"/>
            </a:xfrm>
            <a:prstGeom prst="roundRect">
              <a:avLst>
                <a:gd fmla="val 37500" name="adj"/>
              </a:avLst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571500" y="14287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Presentation Layer</a:t>
              </a:r>
              <a:endParaRPr b="1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2" name="Google Shape;212;p18"/>
            <p:cNvSpPr txBox="1"/>
            <p:nvPr/>
          </p:nvSpPr>
          <p:spPr>
            <a:xfrm>
              <a:off x="714375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D35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400">
                <a:solidFill>
                  <a:srgbClr val="1D35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3" name="Google Shape;213;p18"/>
            <p:cNvSpPr txBox="1"/>
            <p:nvPr/>
          </p:nvSpPr>
          <p:spPr>
            <a:xfrm>
              <a:off x="1190625" y="1905000"/>
              <a:ext cx="1714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Next.js</a:t>
              </a:r>
              <a:endParaRPr b="1" sz="14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React-based framework for high-performance frontend.</a:t>
              </a:r>
              <a:endParaRPr b="0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0A2540"/>
                </a:buClr>
                <a:buSzPts val="1100"/>
                <a:buFont typeface="Times New Roman"/>
                <a:buChar char="●"/>
              </a:pPr>
              <a:r>
                <a:rPr b="1" lang="en" sz="11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Tailwind CSS</a:t>
              </a:r>
              <a:endParaRPr b="1" sz="11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A2540"/>
                </a:buClr>
                <a:buSzPts val="1100"/>
                <a:buFont typeface="Times New Roman"/>
                <a:buChar char="●"/>
              </a:pPr>
              <a:r>
                <a:rPr b="1" lang="en" sz="11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TanStack Query</a:t>
              </a:r>
              <a:endParaRPr b="1" sz="11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4" name="Google Shape;214;p18"/>
          <p:cNvGrpSpPr/>
          <p:nvPr/>
        </p:nvGrpSpPr>
        <p:grpSpPr>
          <a:xfrm>
            <a:off x="3333750" y="1428750"/>
            <a:ext cx="2476500" cy="2190900"/>
            <a:chOff x="3333750" y="1428750"/>
            <a:chExt cx="2476500" cy="2190900"/>
          </a:xfrm>
        </p:grpSpPr>
        <p:sp>
          <p:nvSpPr>
            <p:cNvPr id="215" name="Google Shape;215;p18"/>
            <p:cNvSpPr/>
            <p:nvPr/>
          </p:nvSpPr>
          <p:spPr>
            <a:xfrm>
              <a:off x="3333750" y="1428750"/>
              <a:ext cx="24765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3333750" y="1428750"/>
              <a:ext cx="2476500" cy="381000"/>
            </a:xfrm>
            <a:prstGeom prst="roundRect">
              <a:avLst>
                <a:gd fmla="val 375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3333750" y="14287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Layer</a:t>
              </a:r>
              <a:endParaRPr b="1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p18"/>
            <p:cNvSpPr txBox="1"/>
            <p:nvPr/>
          </p:nvSpPr>
          <p:spPr>
            <a:xfrm>
              <a:off x="3476625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D35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400">
                <a:solidFill>
                  <a:srgbClr val="1D35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9" name="Google Shape;219;p18"/>
            <p:cNvSpPr txBox="1"/>
            <p:nvPr/>
          </p:nvSpPr>
          <p:spPr>
            <a:xfrm>
              <a:off x="3952875" y="1905000"/>
              <a:ext cx="1714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FastAPI</a:t>
              </a:r>
              <a:endParaRPr b="1" sz="14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High-performance Python backend logic.</a:t>
              </a:r>
              <a:endParaRPr b="0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0A2540"/>
                </a:buClr>
                <a:buSzPts val="1100"/>
                <a:buFont typeface="Times New Roman"/>
                <a:buChar char="●"/>
              </a:pPr>
              <a:r>
                <a:rPr b="1" lang="en" sz="11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Pydantic</a:t>
              </a:r>
              <a:endParaRPr b="1" sz="11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A2540"/>
                </a:buClr>
                <a:buSzPts val="1100"/>
                <a:buFont typeface="Times New Roman"/>
                <a:buChar char="●"/>
              </a:pPr>
              <a:r>
                <a:rPr b="1" lang="en" sz="11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JWT Authentication</a:t>
              </a:r>
              <a:endParaRPr b="1" sz="11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0" name="Google Shape;220;p18"/>
          <p:cNvGrpSpPr/>
          <p:nvPr/>
        </p:nvGrpSpPr>
        <p:grpSpPr>
          <a:xfrm>
            <a:off x="6096000" y="1428750"/>
            <a:ext cx="2476500" cy="2190900"/>
            <a:chOff x="6096000" y="1428750"/>
            <a:chExt cx="2476500" cy="2190900"/>
          </a:xfrm>
        </p:grpSpPr>
        <p:sp>
          <p:nvSpPr>
            <p:cNvPr id="221" name="Google Shape;221;p18"/>
            <p:cNvSpPr/>
            <p:nvPr/>
          </p:nvSpPr>
          <p:spPr>
            <a:xfrm>
              <a:off x="6096000" y="1428750"/>
              <a:ext cx="24765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6096000" y="1428750"/>
              <a:ext cx="2476500" cy="381000"/>
            </a:xfrm>
            <a:prstGeom prst="roundRect">
              <a:avLst>
                <a:gd fmla="val 37500" name="adj"/>
              </a:avLst>
            </a:prstGeom>
            <a:solidFill>
              <a:srgbClr val="455A6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6096000" y="14287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Layer</a:t>
              </a:r>
              <a:endParaRPr b="1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18"/>
            <p:cNvSpPr txBox="1"/>
            <p:nvPr/>
          </p:nvSpPr>
          <p:spPr>
            <a:xfrm>
              <a:off x="6238875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D35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1D35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5" name="Google Shape;225;p18"/>
            <p:cNvSpPr txBox="1"/>
            <p:nvPr/>
          </p:nvSpPr>
          <p:spPr>
            <a:xfrm>
              <a:off x="6715125" y="1905000"/>
              <a:ext cx="1714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PostgreSQL</a:t>
              </a:r>
              <a:endParaRPr b="1" sz="14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 relational database for system data.</a:t>
              </a:r>
              <a:endParaRPr b="0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0A2540"/>
                </a:buClr>
                <a:buSzPts val="1100"/>
                <a:buFont typeface="Times New Roman"/>
                <a:buChar char="●"/>
              </a:pPr>
              <a:r>
                <a:rPr b="1" lang="en" sz="11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SQLAlchemy ORM</a:t>
              </a:r>
              <a:endParaRPr b="1" sz="11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571500" y="3857625"/>
            <a:ext cx="8001000" cy="707794"/>
            <a:chOff x="571500" y="3857625"/>
            <a:chExt cx="8001000" cy="707794"/>
          </a:xfrm>
        </p:grpSpPr>
        <p:sp>
          <p:nvSpPr>
            <p:cNvPr id="227" name="Google Shape;227;p18"/>
            <p:cNvSpPr/>
            <p:nvPr/>
          </p:nvSpPr>
          <p:spPr>
            <a:xfrm>
              <a:off x="571500" y="3857625"/>
              <a:ext cx="8001000" cy="666900"/>
            </a:xfrm>
            <a:prstGeom prst="roundRect">
              <a:avLst>
                <a:gd fmla="val 50000" name="adj"/>
              </a:avLst>
            </a:prstGeom>
            <a:solidFill>
              <a:srgbClr val="E0F2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857250" y="3898519"/>
              <a:ext cx="476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897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800">
                <a:solidFill>
                  <a:srgbClr val="00897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9" name="Google Shape;229;p18"/>
            <p:cNvSpPr txBox="1"/>
            <p:nvPr/>
          </p:nvSpPr>
          <p:spPr>
            <a:xfrm>
              <a:off x="1476375" y="3857625"/>
              <a:ext cx="6810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Components: </a:t>
              </a:r>
              <a:r>
                <a:rPr b="0" i="1" lang="en" sz="1400">
                  <a:solidFill>
                    <a:srgbClr val="00695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Scikit-learn | TF-IDF + Cosine Similarity | Natural Language Processing (NLP)</a:t>
              </a:r>
              <a:endParaRPr b="1" sz="14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0" name="Google Shape;230;p18"/>
          <p:cNvSpPr txBox="1"/>
          <p:nvPr/>
        </p:nvSpPr>
        <p:spPr>
          <a:xfrm>
            <a:off x="571500" y="4667250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b="0" sz="9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9"/>
          <p:cNvGrpSpPr/>
          <p:nvPr/>
        </p:nvGrpSpPr>
        <p:grpSpPr>
          <a:xfrm>
            <a:off x="571500" y="1333500"/>
            <a:ext cx="5824500" cy="2586150"/>
            <a:chOff x="571500" y="1333500"/>
            <a:chExt cx="5824500" cy="2586150"/>
          </a:xfrm>
        </p:grpSpPr>
        <p:pic>
          <p:nvPicPr>
            <p:cNvPr id="235" name="Google Shape;23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62350" y="2081213"/>
              <a:ext cx="114300" cy="21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62350" y="3714750"/>
              <a:ext cx="114300" cy="20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05500" y="2943225"/>
              <a:ext cx="4905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2000" y="1562100"/>
              <a:ext cx="9669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19"/>
            <p:cNvSpPr txBox="1"/>
            <p:nvPr/>
          </p:nvSpPr>
          <p:spPr>
            <a:xfrm>
              <a:off x="571500" y="13335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 Interaction</a:t>
              </a:r>
              <a:endParaRPr b="1" sz="10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0" name="Google Shape;240;p19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1" i="0" sz="32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1" name="Google Shape;241;p19"/>
          <p:cNvGrpSpPr/>
          <p:nvPr/>
        </p:nvGrpSpPr>
        <p:grpSpPr>
          <a:xfrm>
            <a:off x="1333500" y="1143000"/>
            <a:ext cx="4572000" cy="3429150"/>
            <a:chOff x="1333500" y="1143000"/>
            <a:chExt cx="4572000" cy="3429150"/>
          </a:xfrm>
        </p:grpSpPr>
        <p:sp>
          <p:nvSpPr>
            <p:cNvPr id="242" name="Google Shape;242;p19"/>
            <p:cNvSpPr/>
            <p:nvPr/>
          </p:nvSpPr>
          <p:spPr>
            <a:xfrm>
              <a:off x="1714500" y="1143000"/>
              <a:ext cx="3810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1714500" y="1143000"/>
              <a:ext cx="3810000" cy="285900"/>
            </a:xfrm>
            <a:prstGeom prst="roundRect">
              <a:avLst>
                <a:gd fmla="val 40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1714500" y="11430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Presentation Layer</a:t>
              </a:r>
              <a:endParaRPr b="1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1857375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D35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400">
                <a:solidFill>
                  <a:srgbClr val="1D35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6" name="Google Shape;246;p19"/>
            <p:cNvSpPr txBox="1"/>
            <p:nvPr/>
          </p:nvSpPr>
          <p:spPr>
            <a:xfrm>
              <a:off x="2333625" y="14287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 Interface (Next.js)</a:t>
              </a:r>
              <a:endParaRPr b="1" sz="12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 Dashboard | Company Dashboard | Admin Panel</a:t>
              </a:r>
              <a:endParaRPr b="0" sz="10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1333500" y="2286000"/>
              <a:ext cx="4572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1D35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1333500" y="2286000"/>
              <a:ext cx="4572000" cy="333300"/>
            </a:xfrm>
            <a:prstGeom prst="roundRect">
              <a:avLst>
                <a:gd fmla="val 34285" name="adj"/>
              </a:avLst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1333500" y="228600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Layer (Backend Logic)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1524000" y="2806065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0A254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3000">
                <a:solidFill>
                  <a:srgbClr val="0A254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2095500" y="2714625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D35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FastAPI Framework</a:t>
              </a:r>
              <a:endParaRPr b="1" sz="12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3333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Authentication (JWT)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3333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Resume Parsing (NLP)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3333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Business Logic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3333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Recommendation Engine (ML)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714500" y="3905250"/>
              <a:ext cx="3810000" cy="666900"/>
            </a:xfrm>
            <a:prstGeom prst="roundRect">
              <a:avLst>
                <a:gd fmla="val 17142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714500" y="3905250"/>
              <a:ext cx="3810000" cy="238200"/>
            </a:xfrm>
            <a:prstGeom prst="roundRect">
              <a:avLst>
                <a:gd fmla="val 48000" name="adj"/>
              </a:avLst>
            </a:prstGeom>
            <a:solidFill>
              <a:srgbClr val="455A6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1714500" y="3905250"/>
              <a:ext cx="381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Layer</a:t>
              </a:r>
              <a:endParaRPr b="1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1857375" y="421728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55A6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1800">
                <a:solidFill>
                  <a:srgbClr val="455A6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2238375" y="4143375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PostgreSQL</a:t>
              </a:r>
              <a:endParaRPr b="1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 Data, Internship Data, Applications</a:t>
              </a:r>
              <a:endParaRPr b="0" sz="9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7" name="Google Shape;257;p19"/>
          <p:cNvGrpSpPr/>
          <p:nvPr/>
        </p:nvGrpSpPr>
        <p:grpSpPr>
          <a:xfrm>
            <a:off x="6381750" y="2286000"/>
            <a:ext cx="2095500" cy="1428900"/>
            <a:chOff x="6381750" y="2286000"/>
            <a:chExt cx="2095500" cy="1428900"/>
          </a:xfrm>
        </p:grpSpPr>
        <p:sp>
          <p:nvSpPr>
            <p:cNvPr id="258" name="Google Shape;258;p19"/>
            <p:cNvSpPr/>
            <p:nvPr/>
          </p:nvSpPr>
          <p:spPr>
            <a:xfrm>
              <a:off x="6381750" y="2286000"/>
              <a:ext cx="2095500" cy="1428900"/>
            </a:xfrm>
            <a:prstGeom prst="roundRect">
              <a:avLst>
                <a:gd fmla="val 8000" name="adj"/>
              </a:avLst>
            </a:prstGeom>
            <a:solidFill>
              <a:srgbClr val="E0F2F1"/>
            </a:solidFill>
            <a:ln cap="flat" cmpd="sng" w="14300">
              <a:solidFill>
                <a:srgbClr val="0089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6381750" y="23812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897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🤖 AI Engine</a:t>
              </a:r>
              <a:endParaRPr b="1" sz="1400">
                <a:solidFill>
                  <a:srgbClr val="00897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6524625" y="2762250"/>
              <a:ext cx="1809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4D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TF-IDF Vectorizer</a:t>
              </a:r>
              <a:endParaRPr sz="110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4D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Cosine Similarity</a:t>
              </a:r>
              <a:endParaRPr sz="110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4D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NLP Processing</a:t>
              </a:r>
              <a:endParaRPr sz="110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61" name="Google Shape;261;p19"/>
          <p:cNvSpPr txBox="1"/>
          <p:nvPr/>
        </p:nvSpPr>
        <p:spPr>
          <a:xfrm>
            <a:off x="571500" y="4667250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Recommendation Engine</a:t>
            </a:r>
            <a:endParaRPr b="1" sz="36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6" name="Google Shape;266;p20"/>
          <p:cNvGrpSpPr/>
          <p:nvPr/>
        </p:nvGrpSpPr>
        <p:grpSpPr>
          <a:xfrm>
            <a:off x="571500" y="1143000"/>
            <a:ext cx="8001000" cy="2857500"/>
            <a:chOff x="571500" y="1143000"/>
            <a:chExt cx="8001000" cy="2857500"/>
          </a:xfrm>
        </p:grpSpPr>
        <p:sp>
          <p:nvSpPr>
            <p:cNvPr id="267" name="Google Shape;267;p20"/>
            <p:cNvSpPr/>
            <p:nvPr/>
          </p:nvSpPr>
          <p:spPr>
            <a:xfrm>
              <a:off x="571500" y="1333500"/>
              <a:ext cx="2476500" cy="2476500"/>
            </a:xfrm>
            <a:prstGeom prst="roundRect">
              <a:avLst>
                <a:gd fmla="val 5769" name="adj"/>
              </a:avLst>
            </a:prstGeom>
            <a:solidFill>
              <a:srgbClr val="E3F2FD"/>
            </a:solidFill>
            <a:ln cap="flat" cmpd="sng" w="14300">
              <a:solidFill>
                <a:srgbClr val="1976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571500" y="1333500"/>
              <a:ext cx="2476500" cy="428700"/>
            </a:xfrm>
            <a:prstGeom prst="roundRect">
              <a:avLst>
                <a:gd fmla="val 33333" name="adj"/>
              </a:avLst>
            </a:prstGeom>
            <a:solidFill>
              <a:srgbClr val="1976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0"/>
            <p:cNvSpPr txBox="1"/>
            <p:nvPr/>
          </p:nvSpPr>
          <p:spPr>
            <a:xfrm>
              <a:off x="571500" y="1333500"/>
              <a:ext cx="2476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Data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762000" y="1905000"/>
              <a:ext cx="2095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📄 Student Resume</a:t>
              </a:r>
              <a:endParaRPr b="1" sz="13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Skills, Experience, Projects</a:t>
              </a:r>
              <a:endParaRPr b="0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📑 Job Description</a:t>
              </a:r>
              <a:endParaRPr b="1" sz="13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Requirements, Tech Stack</a:t>
              </a:r>
              <a:endParaRPr b="0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3333750" y="1143000"/>
              <a:ext cx="2857500" cy="2857500"/>
            </a:xfrm>
            <a:prstGeom prst="roundRect">
              <a:avLst>
                <a:gd fmla="val 5000" name="adj"/>
              </a:avLst>
            </a:prstGeom>
            <a:solidFill>
              <a:srgbClr val="FFF3E0"/>
            </a:solidFill>
            <a:ln cap="flat" cmpd="sng" w="14300">
              <a:solidFill>
                <a:srgbClr val="F57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3333750" y="1143000"/>
              <a:ext cx="2857500" cy="428700"/>
            </a:xfrm>
            <a:prstGeom prst="roundRect">
              <a:avLst>
                <a:gd fmla="val 33333" name="adj"/>
              </a:avLst>
            </a:prstGeom>
            <a:solidFill>
              <a:srgbClr val="F57C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 txBox="1"/>
            <p:nvPr/>
          </p:nvSpPr>
          <p:spPr>
            <a:xfrm>
              <a:off x="3333750" y="1143000"/>
              <a:ext cx="2857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⚙️ ML Processing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20"/>
            <p:cNvSpPr txBox="1"/>
            <p:nvPr/>
          </p:nvSpPr>
          <p:spPr>
            <a:xfrm>
              <a:off x="3524250" y="1714500"/>
              <a:ext cx="2476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TF-IDF Vectorization</a:t>
              </a:r>
              <a:endParaRPr b="1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Converts raw text into a frequency-importance weighted matrix.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Feature Extraction</a:t>
              </a:r>
              <a:endParaRPr b="1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Identifies relevant NLP tokens (Python, React, NLP).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Vector Space Modeling</a:t>
              </a:r>
              <a:endParaRPr b="1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55A6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[0.12, 0.0, 0.85, 0.44...]</a:t>
              </a:r>
              <a:endParaRPr b="0" sz="900">
                <a:solidFill>
                  <a:srgbClr val="455A6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6477000" y="1333500"/>
              <a:ext cx="2095500" cy="2476500"/>
            </a:xfrm>
            <a:prstGeom prst="roundRect">
              <a:avLst>
                <a:gd fmla="val 6818" name="adj"/>
              </a:avLst>
            </a:prstGeom>
            <a:solidFill>
              <a:srgbClr val="E8F5E9"/>
            </a:solidFill>
            <a:ln cap="flat" cmpd="sng" w="14300">
              <a:solidFill>
                <a:srgbClr val="388E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6477000" y="1333500"/>
              <a:ext cx="2095500" cy="428700"/>
            </a:xfrm>
            <a:prstGeom prst="roundRect">
              <a:avLst>
                <a:gd fmla="val 33333" name="adj"/>
              </a:avLst>
            </a:prstGeom>
            <a:solidFill>
              <a:srgbClr val="388E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6477000" y="13335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📊 Similarity Analysis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78" name="Google Shape;27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53250" y="1857375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67550" y="2066925"/>
              <a:ext cx="9144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0"/>
            <p:cNvSpPr txBox="1"/>
            <p:nvPr/>
          </p:nvSpPr>
          <p:spPr>
            <a:xfrm>
              <a:off x="6477000" y="3095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Similarity Score</a:t>
              </a:r>
              <a:endParaRPr b="1" sz="10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8E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0.92 Match</a:t>
              </a:r>
              <a:endParaRPr b="1" sz="1600">
                <a:solidFill>
                  <a:srgbClr val="388E3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🎯 Ranked Rec.</a:t>
              </a:r>
              <a:endParaRPr b="0"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1" name="Google Shape;281;p20"/>
          <p:cNvGrpSpPr/>
          <p:nvPr/>
        </p:nvGrpSpPr>
        <p:grpSpPr>
          <a:xfrm>
            <a:off x="571500" y="4191000"/>
            <a:ext cx="8001000" cy="428700"/>
            <a:chOff x="571500" y="4191000"/>
            <a:chExt cx="8001000" cy="428700"/>
          </a:xfrm>
        </p:grpSpPr>
        <p:sp>
          <p:nvSpPr>
            <p:cNvPr id="282" name="Google Shape;282;p20"/>
            <p:cNvSpPr/>
            <p:nvPr/>
          </p:nvSpPr>
          <p:spPr>
            <a:xfrm>
              <a:off x="571500" y="4191000"/>
              <a:ext cx="8001000" cy="428700"/>
            </a:xfrm>
            <a:prstGeom prst="roundRect">
              <a:avLst>
                <a:gd fmla="val 50000" name="adj"/>
              </a:avLst>
            </a:prstGeom>
            <a:solidFill>
              <a:srgbClr val="E1E8ED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762000" y="4191000"/>
              <a:ext cx="762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200">
                  <a:solidFill>
                    <a:srgbClr val="1D35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Advanced matching logic calculates the angular distance between skill vectors to ensure high-precision internship placement.</a:t>
              </a:r>
              <a:endParaRPr b="0" i="1" sz="12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84" name="Google Shape;284;p20"/>
          <p:cNvSpPr txBox="1"/>
          <p:nvPr/>
        </p:nvSpPr>
        <p:spPr>
          <a:xfrm>
            <a:off x="571500" y="4762500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b="0" sz="9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Resume Parsing</a:t>
            </a:r>
            <a:endParaRPr b="1" sz="36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71500" y="904875"/>
            <a:ext cx="800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Internship Recommendation System</a:t>
            </a:r>
            <a:endParaRPr b="0" i="1" sz="1300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1" name="Google Shape;291;p21"/>
          <p:cNvGrpSpPr/>
          <p:nvPr/>
        </p:nvGrpSpPr>
        <p:grpSpPr>
          <a:xfrm>
            <a:off x="476250" y="1428750"/>
            <a:ext cx="8429700" cy="1714500"/>
            <a:chOff x="476250" y="1428750"/>
            <a:chExt cx="8429700" cy="1714500"/>
          </a:xfrm>
        </p:grpSpPr>
        <p:sp>
          <p:nvSpPr>
            <p:cNvPr id="292" name="Google Shape;292;p21"/>
            <p:cNvSpPr/>
            <p:nvPr/>
          </p:nvSpPr>
          <p:spPr>
            <a:xfrm>
              <a:off x="476250" y="1428750"/>
              <a:ext cx="1571700" cy="1714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476250" y="1428750"/>
              <a:ext cx="1571700" cy="381000"/>
            </a:xfrm>
            <a:prstGeom prst="roundRect">
              <a:avLst>
                <a:gd fmla="val 3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1"/>
            <p:cNvSpPr txBox="1"/>
            <p:nvPr/>
          </p:nvSpPr>
          <p:spPr>
            <a:xfrm>
              <a:off x="476250" y="14287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Input Data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5" name="Google Shape;295;p21"/>
            <p:cNvSpPr txBox="1"/>
            <p:nvPr/>
          </p:nvSpPr>
          <p:spPr>
            <a:xfrm>
              <a:off x="476250" y="1951736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upload_file</a:t>
              </a:r>
              <a:endParaRPr sz="248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6" name="Google Shape;296;p21"/>
            <p:cNvSpPr txBox="1"/>
            <p:nvPr/>
          </p:nvSpPr>
          <p:spPr>
            <a:xfrm>
              <a:off x="571500" y="2381250"/>
              <a:ext cx="1381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Resume Upload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PDF / DOCX format</a:t>
              </a:r>
              <a:endParaRPr sz="10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2190750" y="1428750"/>
              <a:ext cx="1571700" cy="1714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2190750" y="1428750"/>
              <a:ext cx="1571700" cy="381000"/>
            </a:xfrm>
            <a:prstGeom prst="roundRect">
              <a:avLst>
                <a:gd fmla="val 30000" name="adj"/>
              </a:avLst>
            </a:prstGeom>
            <a:solidFill>
              <a:srgbClr val="0369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1"/>
            <p:cNvSpPr txBox="1"/>
            <p:nvPr/>
          </p:nvSpPr>
          <p:spPr>
            <a:xfrm>
              <a:off x="2190750" y="14287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Extraction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" name="Google Shape;300;p21"/>
            <p:cNvSpPr txBox="1"/>
            <p:nvPr/>
          </p:nvSpPr>
          <p:spPr>
            <a:xfrm>
              <a:off x="2190750" y="1951736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0369A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2480">
                <a:solidFill>
                  <a:srgbClr val="0369A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2286000" y="2381250"/>
              <a:ext cx="1381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Raw Text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PyPDF2 / PDFMiner</a:t>
              </a:r>
              <a:endParaRPr sz="10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3905250" y="1428750"/>
              <a:ext cx="1571700" cy="1714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1"/>
            <p:cNvSpPr/>
            <p:nvPr/>
          </p:nvSpPr>
          <p:spPr>
            <a:xfrm>
              <a:off x="3905250" y="1428750"/>
              <a:ext cx="1571700" cy="381000"/>
            </a:xfrm>
            <a:prstGeom prst="roundRect">
              <a:avLst>
                <a:gd fmla="val 30000" name="adj"/>
              </a:avLst>
            </a:prstGeom>
            <a:solidFill>
              <a:srgbClr val="C241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1"/>
            <p:cNvSpPr txBox="1"/>
            <p:nvPr/>
          </p:nvSpPr>
          <p:spPr>
            <a:xfrm>
              <a:off x="3905250" y="14287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NLP Engine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p21"/>
            <p:cNvSpPr txBox="1"/>
            <p:nvPr/>
          </p:nvSpPr>
          <p:spPr>
            <a:xfrm>
              <a:off x="3905250" y="1951736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C241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80">
                <a:solidFill>
                  <a:srgbClr val="C241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6" name="Google Shape;306;p21"/>
            <p:cNvSpPr txBox="1"/>
            <p:nvPr/>
          </p:nvSpPr>
          <p:spPr>
            <a:xfrm>
              <a:off x="4000500" y="2381250"/>
              <a:ext cx="1381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Tokenization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Stop-word Removal</a:t>
              </a:r>
              <a:endParaRPr sz="10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5619750" y="1428750"/>
              <a:ext cx="1571700" cy="1714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5619750" y="1428750"/>
              <a:ext cx="1571700" cy="381000"/>
            </a:xfrm>
            <a:prstGeom prst="roundRect">
              <a:avLst>
                <a:gd fmla="val 30000" name="adj"/>
              </a:avLst>
            </a:prstGeom>
            <a:solidFill>
              <a:srgbClr val="1580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1"/>
            <p:cNvSpPr txBox="1"/>
            <p:nvPr/>
          </p:nvSpPr>
          <p:spPr>
            <a:xfrm>
              <a:off x="5619750" y="14287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4. Skills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" name="Google Shape;310;p21"/>
            <p:cNvSpPr txBox="1"/>
            <p:nvPr/>
          </p:nvSpPr>
          <p:spPr>
            <a:xfrm>
              <a:off x="5619750" y="1951736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label</a:t>
              </a:r>
              <a:endParaRPr sz="248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1" name="Google Shape;311;p21"/>
            <p:cNvSpPr txBox="1"/>
            <p:nvPr/>
          </p:nvSpPr>
          <p:spPr>
            <a:xfrm>
              <a:off x="5715000" y="2381250"/>
              <a:ext cx="1381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Identification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 Stack Extraction</a:t>
              </a:r>
              <a:endParaRPr sz="10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7334250" y="1428750"/>
              <a:ext cx="1571700" cy="1714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7334250" y="1428750"/>
              <a:ext cx="1571700" cy="381000"/>
            </a:xfrm>
            <a:prstGeom prst="roundRect">
              <a:avLst>
                <a:gd fmla="val 30000" name="adj"/>
              </a:avLst>
            </a:prstGeom>
            <a:solidFill>
              <a:srgbClr val="7E22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1"/>
            <p:cNvSpPr txBox="1"/>
            <p:nvPr/>
          </p:nvSpPr>
          <p:spPr>
            <a:xfrm>
              <a:off x="7334250" y="14287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5. Structured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p21"/>
            <p:cNvSpPr txBox="1"/>
            <p:nvPr/>
          </p:nvSpPr>
          <p:spPr>
            <a:xfrm>
              <a:off x="7334250" y="1951736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7E22C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2480">
                <a:solidFill>
                  <a:srgbClr val="7E22C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6" name="Google Shape;316;p21"/>
            <p:cNvSpPr txBox="1"/>
            <p:nvPr/>
          </p:nvSpPr>
          <p:spPr>
            <a:xfrm>
              <a:off x="7429500" y="2381250"/>
              <a:ext cx="1381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Storage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Recommendations</a:t>
              </a:r>
              <a:endParaRPr sz="10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7" name="Google Shape;317;p21"/>
          <p:cNvGrpSpPr/>
          <p:nvPr/>
        </p:nvGrpSpPr>
        <p:grpSpPr>
          <a:xfrm>
            <a:off x="476250" y="3286125"/>
            <a:ext cx="8429700" cy="904800"/>
            <a:chOff x="476250" y="3286125"/>
            <a:chExt cx="8429700" cy="904800"/>
          </a:xfrm>
        </p:grpSpPr>
        <p:sp>
          <p:nvSpPr>
            <p:cNvPr id="318" name="Google Shape;318;p21"/>
            <p:cNvSpPr/>
            <p:nvPr/>
          </p:nvSpPr>
          <p:spPr>
            <a:xfrm>
              <a:off x="476250" y="3286125"/>
              <a:ext cx="8429700" cy="904800"/>
            </a:xfrm>
            <a:prstGeom prst="roundRect">
              <a:avLst>
                <a:gd fmla="val 126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476250" y="3286125"/>
              <a:ext cx="1905000" cy="904800"/>
            </a:xfrm>
            <a:prstGeom prst="roundRect">
              <a:avLst>
                <a:gd fmla="val 1263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1"/>
            <p:cNvSpPr txBox="1"/>
            <p:nvPr/>
          </p:nvSpPr>
          <p:spPr>
            <a:xfrm>
              <a:off x="619125" y="3286125"/>
              <a:ext cx="16191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JSON OUTPUT EXAMPLE</a:t>
              </a:r>
              <a:endParaRPr b="1" sz="1100">
                <a:solidFill>
                  <a:srgbClr val="38BDF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" name="Google Shape;321;p21"/>
            <p:cNvSpPr txBox="1"/>
            <p:nvPr/>
          </p:nvSpPr>
          <p:spPr>
            <a:xfrm>
              <a:off x="2571750" y="3381375"/>
              <a:ext cx="61437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 "name": "John Doe", "skills": ["Python", "React", "NLP", "FastAPI"], "experience": "3 Years", "education": "B.Tech CS" }</a:t>
              </a:r>
              <a:endParaRPr sz="9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22" name="Google Shape;322;p21"/>
          <p:cNvSpPr txBox="1"/>
          <p:nvPr/>
        </p:nvSpPr>
        <p:spPr>
          <a:xfrm>
            <a:off x="571500" y="428625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pipeline extracts professional attributes from raw documents using industry-standard NLP techniques.</a:t>
            </a:r>
            <a:endParaRPr b="0" i="1" sz="13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571500" y="4810125"/>
            <a:ext cx="800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b="0" sz="1000">
              <a:solidFill>
                <a:srgbClr val="94A3B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"/>
          <p:cNvSpPr txBox="1"/>
          <p:nvPr/>
        </p:nvSpPr>
        <p:spPr>
          <a:xfrm>
            <a:off x="571500" y="285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Workflow</a:t>
            </a:r>
            <a:endParaRPr b="1" sz="32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1704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9875" y="1704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8125" y="1704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6375" y="1704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1704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2875" y="1704975"/>
            <a:ext cx="1428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22"/>
          <p:cNvGrpSpPr/>
          <p:nvPr/>
        </p:nvGrpSpPr>
        <p:grpSpPr>
          <a:xfrm>
            <a:off x="476250" y="1009650"/>
            <a:ext cx="1095300" cy="1276350"/>
            <a:chOff x="476250" y="1009650"/>
            <a:chExt cx="1095300" cy="1276350"/>
          </a:xfrm>
        </p:grpSpPr>
        <p:sp>
          <p:nvSpPr>
            <p:cNvPr id="335" name="Google Shape;335;p22"/>
            <p:cNvSpPr/>
            <p:nvPr/>
          </p:nvSpPr>
          <p:spPr>
            <a:xfrm>
              <a:off x="476250" y="1143000"/>
              <a:ext cx="1095300" cy="11430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90588" y="1009650"/>
              <a:ext cx="266700" cy="2667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890588" y="1009650"/>
              <a:ext cx="266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2"/>
            <p:cNvSpPr txBox="1"/>
            <p:nvPr/>
          </p:nvSpPr>
          <p:spPr>
            <a:xfrm>
              <a:off x="476250" y="1368552"/>
              <a:ext cx="109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240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9" name="Google Shape;339;p22"/>
            <p:cNvSpPr txBox="1"/>
            <p:nvPr/>
          </p:nvSpPr>
          <p:spPr>
            <a:xfrm>
              <a:off x="476250" y="1762125"/>
              <a:ext cx="10953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 Action</a:t>
              </a:r>
              <a:endParaRPr b="1" sz="11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Login / Register</a:t>
              </a:r>
              <a:endParaRPr b="0" sz="9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0" name="Google Shape;340;p22"/>
          <p:cNvGrpSpPr/>
          <p:nvPr/>
        </p:nvGrpSpPr>
        <p:grpSpPr>
          <a:xfrm>
            <a:off x="1714500" y="1009650"/>
            <a:ext cx="1095300" cy="1276350"/>
            <a:chOff x="1714500" y="1009650"/>
            <a:chExt cx="1095300" cy="1276350"/>
          </a:xfrm>
        </p:grpSpPr>
        <p:sp>
          <p:nvSpPr>
            <p:cNvPr id="341" name="Google Shape;341;p22"/>
            <p:cNvSpPr/>
            <p:nvPr/>
          </p:nvSpPr>
          <p:spPr>
            <a:xfrm>
              <a:off x="1714500" y="1143000"/>
              <a:ext cx="1095300" cy="11430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2128838" y="1009650"/>
              <a:ext cx="266700" cy="2667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2"/>
            <p:cNvSpPr txBox="1"/>
            <p:nvPr/>
          </p:nvSpPr>
          <p:spPr>
            <a:xfrm>
              <a:off x="2128838" y="1009650"/>
              <a:ext cx="266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2"/>
            <p:cNvSpPr txBox="1"/>
            <p:nvPr/>
          </p:nvSpPr>
          <p:spPr>
            <a:xfrm>
              <a:off x="1714500" y="1368552"/>
              <a:ext cx="109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1714500" y="1762125"/>
              <a:ext cx="10953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</a:t>
              </a:r>
              <a:endParaRPr b="1" sz="11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Resume Upload</a:t>
              </a:r>
              <a:endParaRPr b="0" sz="9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6" name="Google Shape;346;p22"/>
          <p:cNvGrpSpPr/>
          <p:nvPr/>
        </p:nvGrpSpPr>
        <p:grpSpPr>
          <a:xfrm>
            <a:off x="2952750" y="1009650"/>
            <a:ext cx="1095300" cy="1276350"/>
            <a:chOff x="2952750" y="1009650"/>
            <a:chExt cx="1095300" cy="1276350"/>
          </a:xfrm>
        </p:grpSpPr>
        <p:sp>
          <p:nvSpPr>
            <p:cNvPr id="347" name="Google Shape;347;p22"/>
            <p:cNvSpPr/>
            <p:nvPr/>
          </p:nvSpPr>
          <p:spPr>
            <a:xfrm>
              <a:off x="2952750" y="1143000"/>
              <a:ext cx="1095300" cy="11430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3367088" y="1009650"/>
              <a:ext cx="266700" cy="2667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2"/>
            <p:cNvSpPr txBox="1"/>
            <p:nvPr/>
          </p:nvSpPr>
          <p:spPr>
            <a:xfrm>
              <a:off x="3367088" y="1009650"/>
              <a:ext cx="266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2"/>
            <p:cNvSpPr txBox="1"/>
            <p:nvPr/>
          </p:nvSpPr>
          <p:spPr>
            <a:xfrm>
              <a:off x="2952750" y="1368552"/>
              <a:ext cx="109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1" name="Google Shape;351;p22"/>
            <p:cNvSpPr txBox="1"/>
            <p:nvPr/>
          </p:nvSpPr>
          <p:spPr>
            <a:xfrm>
              <a:off x="2952750" y="1762125"/>
              <a:ext cx="10953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Processing</a:t>
              </a:r>
              <a:endParaRPr b="1" sz="11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NLP Skill Extraction</a:t>
              </a:r>
              <a:endParaRPr b="0" sz="9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2" name="Google Shape;352;p22"/>
          <p:cNvGrpSpPr/>
          <p:nvPr/>
        </p:nvGrpSpPr>
        <p:grpSpPr>
          <a:xfrm>
            <a:off x="4191000" y="1009650"/>
            <a:ext cx="1095300" cy="1276350"/>
            <a:chOff x="4191000" y="1009650"/>
            <a:chExt cx="1095300" cy="1276350"/>
          </a:xfrm>
        </p:grpSpPr>
        <p:sp>
          <p:nvSpPr>
            <p:cNvPr id="353" name="Google Shape;353;p22"/>
            <p:cNvSpPr/>
            <p:nvPr/>
          </p:nvSpPr>
          <p:spPr>
            <a:xfrm>
              <a:off x="4191000" y="1143000"/>
              <a:ext cx="1095300" cy="11430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4605338" y="1009650"/>
              <a:ext cx="266700" cy="2667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 txBox="1"/>
            <p:nvPr/>
          </p:nvSpPr>
          <p:spPr>
            <a:xfrm>
              <a:off x="4605338" y="1009650"/>
              <a:ext cx="266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2"/>
            <p:cNvSpPr txBox="1"/>
            <p:nvPr/>
          </p:nvSpPr>
          <p:spPr>
            <a:xfrm>
              <a:off x="4191000" y="1368552"/>
              <a:ext cx="109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7" name="Google Shape;357;p22"/>
            <p:cNvSpPr txBox="1"/>
            <p:nvPr/>
          </p:nvSpPr>
          <p:spPr>
            <a:xfrm>
              <a:off x="4191000" y="1762125"/>
              <a:ext cx="10953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Storage</a:t>
              </a:r>
              <a:endParaRPr b="1" sz="11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Database Entry</a:t>
              </a:r>
              <a:endParaRPr b="0" sz="9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8" name="Google Shape;358;p22"/>
          <p:cNvGrpSpPr/>
          <p:nvPr/>
        </p:nvGrpSpPr>
        <p:grpSpPr>
          <a:xfrm>
            <a:off x="5429250" y="1009650"/>
            <a:ext cx="1095300" cy="1276350"/>
            <a:chOff x="5429250" y="1009650"/>
            <a:chExt cx="1095300" cy="1276350"/>
          </a:xfrm>
        </p:grpSpPr>
        <p:sp>
          <p:nvSpPr>
            <p:cNvPr id="359" name="Google Shape;359;p22"/>
            <p:cNvSpPr/>
            <p:nvPr/>
          </p:nvSpPr>
          <p:spPr>
            <a:xfrm>
              <a:off x="5429250" y="1143000"/>
              <a:ext cx="1095300" cy="11430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5843588" y="1009650"/>
              <a:ext cx="266700" cy="2667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 txBox="1"/>
            <p:nvPr/>
          </p:nvSpPr>
          <p:spPr>
            <a:xfrm>
              <a:off x="5843588" y="1009650"/>
              <a:ext cx="266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2"/>
            <p:cNvSpPr txBox="1"/>
            <p:nvPr/>
          </p:nvSpPr>
          <p:spPr>
            <a:xfrm>
              <a:off x="5429250" y="1368552"/>
              <a:ext cx="109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3" name="Google Shape;363;p22"/>
            <p:cNvSpPr txBox="1"/>
            <p:nvPr/>
          </p:nvSpPr>
          <p:spPr>
            <a:xfrm>
              <a:off x="5429250" y="1762125"/>
              <a:ext cx="10953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Engine</a:t>
              </a:r>
              <a:endParaRPr b="1" sz="11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Similarity Scoring</a:t>
              </a:r>
              <a:endParaRPr b="0" sz="9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4" name="Google Shape;364;p22"/>
          <p:cNvGrpSpPr/>
          <p:nvPr/>
        </p:nvGrpSpPr>
        <p:grpSpPr>
          <a:xfrm>
            <a:off x="6667500" y="1009650"/>
            <a:ext cx="1095300" cy="1276350"/>
            <a:chOff x="6667500" y="1009650"/>
            <a:chExt cx="1095300" cy="1276350"/>
          </a:xfrm>
        </p:grpSpPr>
        <p:sp>
          <p:nvSpPr>
            <p:cNvPr id="365" name="Google Shape;365;p22"/>
            <p:cNvSpPr/>
            <p:nvPr/>
          </p:nvSpPr>
          <p:spPr>
            <a:xfrm>
              <a:off x="6667500" y="1143000"/>
              <a:ext cx="1095300" cy="11430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7081838" y="1009650"/>
              <a:ext cx="266700" cy="2667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2"/>
            <p:cNvSpPr txBox="1"/>
            <p:nvPr/>
          </p:nvSpPr>
          <p:spPr>
            <a:xfrm>
              <a:off x="7081838" y="1009650"/>
              <a:ext cx="266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2"/>
            <p:cNvSpPr txBox="1"/>
            <p:nvPr/>
          </p:nvSpPr>
          <p:spPr>
            <a:xfrm>
              <a:off x="6667500" y="1368552"/>
              <a:ext cx="109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9" name="Google Shape;369;p22"/>
            <p:cNvSpPr txBox="1"/>
            <p:nvPr/>
          </p:nvSpPr>
          <p:spPr>
            <a:xfrm>
              <a:off x="6667500" y="1762125"/>
              <a:ext cx="10953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</a:t>
              </a:r>
              <a:endParaRPr b="1" sz="11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Ranked Recs</a:t>
              </a:r>
              <a:endParaRPr b="0" sz="9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0" name="Google Shape;370;p22"/>
          <p:cNvGrpSpPr/>
          <p:nvPr/>
        </p:nvGrpSpPr>
        <p:grpSpPr>
          <a:xfrm>
            <a:off x="7905750" y="1009650"/>
            <a:ext cx="1095300" cy="1276350"/>
            <a:chOff x="7905750" y="1009650"/>
            <a:chExt cx="1095300" cy="1276350"/>
          </a:xfrm>
        </p:grpSpPr>
        <p:sp>
          <p:nvSpPr>
            <p:cNvPr id="371" name="Google Shape;371;p22"/>
            <p:cNvSpPr/>
            <p:nvPr/>
          </p:nvSpPr>
          <p:spPr>
            <a:xfrm>
              <a:off x="7905750" y="1143000"/>
              <a:ext cx="1095300" cy="11430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8320088" y="1009650"/>
              <a:ext cx="266700" cy="2667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8320088" y="1009650"/>
              <a:ext cx="266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7905750" y="1368552"/>
              <a:ext cx="109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push_pin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5" name="Google Shape;375;p22"/>
            <p:cNvSpPr txBox="1"/>
            <p:nvPr/>
          </p:nvSpPr>
          <p:spPr>
            <a:xfrm>
              <a:off x="7905750" y="1762125"/>
              <a:ext cx="10953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 Flow</a:t>
              </a:r>
              <a:endParaRPr b="1" sz="11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Apply &amp; Review</a:t>
              </a:r>
              <a:endParaRPr b="0" sz="9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6" name="Google Shape;376;p22"/>
          <p:cNvGrpSpPr/>
          <p:nvPr/>
        </p:nvGrpSpPr>
        <p:grpSpPr>
          <a:xfrm>
            <a:off x="571500" y="2476500"/>
            <a:ext cx="8001000" cy="1905000"/>
            <a:chOff x="0" y="-285750"/>
            <a:chExt cx="8001000" cy="1905000"/>
          </a:xfrm>
        </p:grpSpPr>
        <p:pic>
          <p:nvPicPr>
            <p:cNvPr id="377" name="Google Shape;377;p22" title="Screenshot 2026-05-02 002205.png"/>
            <p:cNvPicPr preferRelativeResize="0"/>
            <p:nvPr/>
          </p:nvPicPr>
          <p:blipFill rotWithShape="1">
            <a:blip r:embed="rId5">
              <a:alphaModFix/>
            </a:blip>
            <a:srcRect b="25010" l="0" r="0" t="25010"/>
            <a:stretch/>
          </p:blipFill>
          <p:spPr>
            <a:xfrm>
              <a:off x="0" y="-285750"/>
              <a:ext cx="80010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22"/>
            <p:cNvSpPr txBox="1"/>
            <p:nvPr/>
          </p:nvSpPr>
          <p:spPr>
            <a:xfrm>
              <a:off x="0" y="-285750"/>
              <a:ext cx="8001000" cy="21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400">
                <a:solidFill>
                  <a:srgbClr val="FFFFFF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79" name="Google Shape;379;p22"/>
          <p:cNvSpPr txBox="1"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23"/>
          <p:cNvGrpSpPr/>
          <p:nvPr/>
        </p:nvGrpSpPr>
        <p:grpSpPr>
          <a:xfrm>
            <a:off x="571500" y="381000"/>
            <a:ext cx="8001000" cy="762150"/>
            <a:chOff x="571500" y="381000"/>
            <a:chExt cx="8001000" cy="762150"/>
          </a:xfrm>
        </p:grpSpPr>
        <p:sp>
          <p:nvSpPr>
            <p:cNvPr id="384" name="Google Shape;384;p23"/>
            <p:cNvSpPr txBox="1"/>
            <p:nvPr/>
          </p:nvSpPr>
          <p:spPr>
            <a:xfrm>
              <a:off x="571500" y="381000"/>
              <a:ext cx="8001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Security &amp; Privacy</a:t>
              </a:r>
              <a:endParaRPr b="1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5" name="Google Shape;385;p23"/>
            <p:cNvSpPr txBox="1"/>
            <p:nvPr/>
          </p:nvSpPr>
          <p:spPr>
            <a:xfrm>
              <a:off x="571500" y="8572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400">
                  <a:solidFill>
                    <a:srgbClr val="64FFD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Ensuring safe and secure user data</a:t>
              </a:r>
              <a:endParaRPr b="0" i="1" sz="1400">
                <a:solidFill>
                  <a:srgbClr val="64FFD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6" name="Google Shape;386;p23"/>
          <p:cNvGrpSpPr/>
          <p:nvPr/>
        </p:nvGrpSpPr>
        <p:grpSpPr>
          <a:xfrm>
            <a:off x="571500" y="1381125"/>
            <a:ext cx="3905400" cy="952500"/>
            <a:chOff x="571500" y="1381125"/>
            <a:chExt cx="3905400" cy="952500"/>
          </a:xfrm>
        </p:grpSpPr>
        <p:sp>
          <p:nvSpPr>
            <p:cNvPr id="387" name="Google Shape;387;p23"/>
            <p:cNvSpPr/>
            <p:nvPr/>
          </p:nvSpPr>
          <p:spPr>
            <a:xfrm>
              <a:off x="571500" y="1381125"/>
              <a:ext cx="3905400" cy="952500"/>
            </a:xfrm>
            <a:prstGeom prst="roundRect">
              <a:avLst>
                <a:gd fmla="val 10000" name="adj"/>
              </a:avLst>
            </a:prstGeom>
            <a:solidFill>
              <a:srgbClr val="112240"/>
            </a:solidFill>
            <a:ln cap="flat" cmpd="sng" w="9525">
              <a:solidFill>
                <a:srgbClr val="2335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 txBox="1"/>
            <p:nvPr/>
          </p:nvSpPr>
          <p:spPr>
            <a:xfrm>
              <a:off x="714375" y="1683956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64FFD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vpn_key</a:t>
              </a:r>
              <a:endParaRPr sz="2800">
                <a:solidFill>
                  <a:srgbClr val="64FFD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9" name="Google Shape;389;p23"/>
            <p:cNvSpPr txBox="1"/>
            <p:nvPr/>
          </p:nvSpPr>
          <p:spPr>
            <a:xfrm>
              <a:off x="1285875" y="1381125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JWT Authentication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92B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Secure login system</a:t>
              </a:r>
              <a:endParaRPr b="0" sz="1100">
                <a:solidFill>
                  <a:srgbClr val="8892B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TOKEN-BASED</a:t>
              </a:r>
              <a:endParaRPr b="1" sz="900">
                <a:solidFill>
                  <a:srgbClr val="64FFD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90" name="Google Shape;390;p23"/>
          <p:cNvGrpSpPr/>
          <p:nvPr/>
        </p:nvGrpSpPr>
        <p:grpSpPr>
          <a:xfrm>
            <a:off x="4667250" y="1381125"/>
            <a:ext cx="3905400" cy="952500"/>
            <a:chOff x="4667250" y="1381125"/>
            <a:chExt cx="3905400" cy="952500"/>
          </a:xfrm>
        </p:grpSpPr>
        <p:sp>
          <p:nvSpPr>
            <p:cNvPr id="391" name="Google Shape;391;p23"/>
            <p:cNvSpPr/>
            <p:nvPr/>
          </p:nvSpPr>
          <p:spPr>
            <a:xfrm>
              <a:off x="4667250" y="1381125"/>
              <a:ext cx="3905400" cy="952500"/>
            </a:xfrm>
            <a:prstGeom prst="roundRect">
              <a:avLst>
                <a:gd fmla="val 10000" name="adj"/>
              </a:avLst>
            </a:prstGeom>
            <a:solidFill>
              <a:srgbClr val="112240"/>
            </a:solidFill>
            <a:ln cap="flat" cmpd="sng" w="9525">
              <a:solidFill>
                <a:srgbClr val="2335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 txBox="1"/>
            <p:nvPr/>
          </p:nvSpPr>
          <p:spPr>
            <a:xfrm>
              <a:off x="4810125" y="1683956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64FFD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2800">
                <a:solidFill>
                  <a:srgbClr val="64FFD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3" name="Google Shape;393;p23"/>
            <p:cNvSpPr txBox="1"/>
            <p:nvPr/>
          </p:nvSpPr>
          <p:spPr>
            <a:xfrm>
              <a:off x="5381625" y="1381125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Role-Based Access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92B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Controlled permissions</a:t>
              </a:r>
              <a:endParaRPr b="0" sz="1100">
                <a:solidFill>
                  <a:srgbClr val="8892B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RBAC SYSTEM</a:t>
              </a:r>
              <a:endParaRPr b="1" sz="900">
                <a:solidFill>
                  <a:srgbClr val="64FFD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94" name="Google Shape;394;p23"/>
          <p:cNvGrpSpPr/>
          <p:nvPr/>
        </p:nvGrpSpPr>
        <p:grpSpPr>
          <a:xfrm>
            <a:off x="571500" y="2476500"/>
            <a:ext cx="3905400" cy="952500"/>
            <a:chOff x="571500" y="2476500"/>
            <a:chExt cx="3905400" cy="952500"/>
          </a:xfrm>
        </p:grpSpPr>
        <p:sp>
          <p:nvSpPr>
            <p:cNvPr id="395" name="Google Shape;395;p23"/>
            <p:cNvSpPr/>
            <p:nvPr/>
          </p:nvSpPr>
          <p:spPr>
            <a:xfrm>
              <a:off x="571500" y="2476500"/>
              <a:ext cx="3905400" cy="952500"/>
            </a:xfrm>
            <a:prstGeom prst="roundRect">
              <a:avLst>
                <a:gd fmla="val 10000" name="adj"/>
              </a:avLst>
            </a:prstGeom>
            <a:solidFill>
              <a:srgbClr val="112240"/>
            </a:solidFill>
            <a:ln cap="flat" cmpd="sng" w="9525">
              <a:solidFill>
                <a:srgbClr val="2335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3"/>
            <p:cNvSpPr txBox="1"/>
            <p:nvPr/>
          </p:nvSpPr>
          <p:spPr>
            <a:xfrm>
              <a:off x="714375" y="2779331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64FFD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800">
                <a:solidFill>
                  <a:srgbClr val="64FFD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7" name="Google Shape;397;p23"/>
            <p:cNvSpPr txBox="1"/>
            <p:nvPr/>
          </p:nvSpPr>
          <p:spPr>
            <a:xfrm>
              <a:off x="1285875" y="24765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Password Protection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92B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Encrypted using bcrypt</a:t>
              </a:r>
              <a:endParaRPr b="0" sz="1100">
                <a:solidFill>
                  <a:srgbClr val="8892B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ENCRYPTION</a:t>
              </a:r>
              <a:endParaRPr b="1" sz="900">
                <a:solidFill>
                  <a:srgbClr val="64FFD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98" name="Google Shape;398;p23"/>
          <p:cNvGrpSpPr/>
          <p:nvPr/>
        </p:nvGrpSpPr>
        <p:grpSpPr>
          <a:xfrm>
            <a:off x="4667250" y="2476500"/>
            <a:ext cx="3905400" cy="952500"/>
            <a:chOff x="4667250" y="2476500"/>
            <a:chExt cx="3905400" cy="952500"/>
          </a:xfrm>
        </p:grpSpPr>
        <p:sp>
          <p:nvSpPr>
            <p:cNvPr id="399" name="Google Shape;399;p23"/>
            <p:cNvSpPr/>
            <p:nvPr/>
          </p:nvSpPr>
          <p:spPr>
            <a:xfrm>
              <a:off x="4667250" y="2476500"/>
              <a:ext cx="3905400" cy="952500"/>
            </a:xfrm>
            <a:prstGeom prst="roundRect">
              <a:avLst>
                <a:gd fmla="val 10000" name="adj"/>
              </a:avLst>
            </a:prstGeom>
            <a:solidFill>
              <a:srgbClr val="112240"/>
            </a:solidFill>
            <a:ln cap="flat" cmpd="sng" w="9525">
              <a:solidFill>
                <a:srgbClr val="2335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3"/>
            <p:cNvSpPr txBox="1"/>
            <p:nvPr/>
          </p:nvSpPr>
          <p:spPr>
            <a:xfrm>
              <a:off x="4810125" y="2779331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64FFD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gpp_maybe</a:t>
              </a:r>
              <a:endParaRPr sz="2800">
                <a:solidFill>
                  <a:srgbClr val="64FFD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1" name="Google Shape;401;p23"/>
            <p:cNvSpPr txBox="1"/>
            <p:nvPr/>
          </p:nvSpPr>
          <p:spPr>
            <a:xfrm>
              <a:off x="5381625" y="24765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Secure Actions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92B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Protected operations</a:t>
              </a:r>
              <a:endParaRPr b="0" sz="1100">
                <a:solidFill>
                  <a:srgbClr val="8892B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CONFIRMATION</a:t>
              </a:r>
              <a:endParaRPr b="1" sz="900">
                <a:solidFill>
                  <a:srgbClr val="64FFD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02" name="Google Shape;402;p23"/>
          <p:cNvGrpSpPr/>
          <p:nvPr/>
        </p:nvGrpSpPr>
        <p:grpSpPr>
          <a:xfrm>
            <a:off x="566738" y="3614738"/>
            <a:ext cx="8010600" cy="866700"/>
            <a:chOff x="566738" y="3614738"/>
            <a:chExt cx="8010600" cy="866700"/>
          </a:xfrm>
        </p:grpSpPr>
        <p:pic>
          <p:nvPicPr>
            <p:cNvPr id="403" name="Google Shape;40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6738" y="3614738"/>
              <a:ext cx="8010600" cy="8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23"/>
            <p:cNvSpPr txBox="1"/>
            <p:nvPr/>
          </p:nvSpPr>
          <p:spPr>
            <a:xfrm>
              <a:off x="571500" y="3619500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3810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64FFD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Global Data Protection Standards</a:t>
              </a:r>
              <a:endParaRPr b="1" sz="1800">
                <a:solidFill>
                  <a:srgbClr val="64FFD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CD6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Our AI-powered portal implements multi-layered security protocols to safeguard student and recruiter information at every touchpoint.</a:t>
              </a:r>
              <a:endParaRPr b="0" sz="1100">
                <a:solidFill>
                  <a:srgbClr val="CCD6F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05" name="Google Shape;405;p23"/>
          <p:cNvSpPr txBox="1"/>
          <p:nvPr/>
        </p:nvSpPr>
        <p:spPr>
          <a:xfrm>
            <a:off x="0" y="4762500"/>
            <a:ext cx="91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8892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b="0" sz="900">
              <a:solidFill>
                <a:srgbClr val="8892B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/>
          <p:nvPr/>
        </p:nvSpPr>
        <p:spPr>
          <a:xfrm>
            <a:off x="381000" y="285750"/>
            <a:ext cx="8382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"/>
          <p:cNvSpPr txBox="1"/>
          <p:nvPr/>
        </p:nvSpPr>
        <p:spPr>
          <a:xfrm>
            <a:off x="571500" y="42862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&amp; Recruiter Dashboard</a:t>
            </a:r>
            <a:endParaRPr b="1" sz="28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11" name="Google Shape;411;p24"/>
          <p:cNvGrpSpPr/>
          <p:nvPr/>
        </p:nvGrpSpPr>
        <p:grpSpPr>
          <a:xfrm>
            <a:off x="571500" y="1047750"/>
            <a:ext cx="5143500" cy="3238500"/>
            <a:chOff x="0" y="0"/>
            <a:chExt cx="5143500" cy="3238500"/>
          </a:xfrm>
        </p:grpSpPr>
        <p:sp>
          <p:nvSpPr>
            <p:cNvPr id="412" name="Google Shape;412;p24"/>
            <p:cNvSpPr/>
            <p:nvPr/>
          </p:nvSpPr>
          <p:spPr>
            <a:xfrm>
              <a:off x="0" y="0"/>
              <a:ext cx="51435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rofessional SaaS dashboard user interface for a company recruiter. It shows a list of internship postings, a candidate management board with 'Applied', 'Review', 'Shortlisted' columns, and a matching score indicator for each candidate. Modern, clean, blue and white professional theme." id="413" name="Google Shape;413;p24"/>
            <p:cNvPicPr preferRelativeResize="0"/>
            <p:nvPr/>
          </p:nvPicPr>
          <p:blipFill rotWithShape="1">
            <a:blip r:embed="rId3">
              <a:alphaModFix/>
            </a:blip>
            <a:srcRect b="0" l="5334" r="5325" t="0"/>
            <a:stretch/>
          </p:blipFill>
          <p:spPr>
            <a:xfrm>
              <a:off x="0" y="0"/>
              <a:ext cx="5143500" cy="3238500"/>
            </a:xfrm>
            <a:prstGeom prst="roundRect">
              <a:avLst>
                <a:gd fmla="val 4705" name="adj"/>
              </a:avLst>
            </a:prstGeom>
            <a:noFill/>
            <a:ln>
              <a:noFill/>
            </a:ln>
          </p:spPr>
        </p:pic>
        <p:sp>
          <p:nvSpPr>
            <p:cNvPr id="414" name="Google Shape;414;p24"/>
            <p:cNvSpPr/>
            <p:nvPr/>
          </p:nvSpPr>
          <p:spPr>
            <a:xfrm>
              <a:off x="0" y="0"/>
              <a:ext cx="5143500" cy="3238500"/>
            </a:xfrm>
            <a:prstGeom prst="roundRect">
              <a:avLst>
                <a:gd fmla="val 4705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4"/>
            <p:cNvSpPr txBox="1"/>
            <p:nvPr/>
          </p:nvSpPr>
          <p:spPr>
            <a:xfrm>
              <a:off x="0" y="0"/>
              <a:ext cx="5143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Insert Company Dashboard UI Screenshot</a:t>
              </a:r>
              <a:endParaRPr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16" name="Google Shape;416;p24"/>
          <p:cNvGrpSpPr/>
          <p:nvPr/>
        </p:nvGrpSpPr>
        <p:grpSpPr>
          <a:xfrm>
            <a:off x="5905500" y="1047750"/>
            <a:ext cx="2667000" cy="714300"/>
            <a:chOff x="0" y="0"/>
            <a:chExt cx="2667000" cy="714300"/>
          </a:xfrm>
        </p:grpSpPr>
        <p:pic>
          <p:nvPicPr>
            <p:cNvPr id="417" name="Google Shape;41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24"/>
            <p:cNvSpPr txBox="1"/>
            <p:nvPr/>
          </p:nvSpPr>
          <p:spPr>
            <a:xfrm>
              <a:off x="142875" y="17208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1976D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business_center</a:t>
              </a:r>
              <a:endParaRPr sz="200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19" name="Google Shape;419;p24"/>
            <p:cNvSpPr txBox="1"/>
            <p:nvPr/>
          </p:nvSpPr>
          <p:spPr>
            <a:xfrm>
              <a:off x="619125" y="142875"/>
              <a:ext cx="190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D35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Internship Management</a:t>
              </a:r>
              <a:endParaRPr b="1" sz="12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Create, edit, and track postings.</a:t>
              </a:r>
              <a:endParaRPr b="0" sz="10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0" name="Google Shape;420;p24"/>
          <p:cNvGrpSpPr/>
          <p:nvPr/>
        </p:nvGrpSpPr>
        <p:grpSpPr>
          <a:xfrm>
            <a:off x="5905500" y="1857375"/>
            <a:ext cx="2667000" cy="714300"/>
            <a:chOff x="0" y="0"/>
            <a:chExt cx="2667000" cy="714300"/>
          </a:xfrm>
        </p:grpSpPr>
        <p:pic>
          <p:nvPicPr>
            <p:cNvPr id="421" name="Google Shape;421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24"/>
            <p:cNvSpPr txBox="1"/>
            <p:nvPr/>
          </p:nvSpPr>
          <p:spPr>
            <a:xfrm>
              <a:off x="142875" y="17208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1976D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00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23" name="Google Shape;423;p24"/>
            <p:cNvSpPr txBox="1"/>
            <p:nvPr/>
          </p:nvSpPr>
          <p:spPr>
            <a:xfrm>
              <a:off x="619125" y="142875"/>
              <a:ext cx="190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D35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Applicant Tracking</a:t>
              </a:r>
              <a:endParaRPr b="1" sz="12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Centralized resume &amp; profile access.</a:t>
              </a:r>
              <a:endParaRPr b="0" sz="10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4" name="Google Shape;424;p24"/>
          <p:cNvGrpSpPr/>
          <p:nvPr/>
        </p:nvGrpSpPr>
        <p:grpSpPr>
          <a:xfrm>
            <a:off x="5905500" y="2667000"/>
            <a:ext cx="2667000" cy="714300"/>
            <a:chOff x="0" y="0"/>
            <a:chExt cx="2667000" cy="714300"/>
          </a:xfrm>
        </p:grpSpPr>
        <p:pic>
          <p:nvPicPr>
            <p:cNvPr id="425" name="Google Shape;425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24"/>
            <p:cNvSpPr txBox="1"/>
            <p:nvPr/>
          </p:nvSpPr>
          <p:spPr>
            <a:xfrm>
              <a:off x="142875" y="17208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1976D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00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27" name="Google Shape;427;p24"/>
            <p:cNvSpPr txBox="1"/>
            <p:nvPr/>
          </p:nvSpPr>
          <p:spPr>
            <a:xfrm>
              <a:off x="619125" y="142875"/>
              <a:ext cx="190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D35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Pipeline</a:t>
              </a:r>
              <a:endParaRPr b="1" sz="12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→ Shortlisted → Selected.</a:t>
              </a:r>
              <a:endParaRPr b="0" sz="10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8" name="Google Shape;428;p24"/>
          <p:cNvGrpSpPr/>
          <p:nvPr/>
        </p:nvGrpSpPr>
        <p:grpSpPr>
          <a:xfrm>
            <a:off x="5905500" y="3476625"/>
            <a:ext cx="2667000" cy="809700"/>
            <a:chOff x="0" y="0"/>
            <a:chExt cx="2667000" cy="809700"/>
          </a:xfrm>
        </p:grpSpPr>
        <p:pic>
          <p:nvPicPr>
            <p:cNvPr id="429" name="Google Shape;4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2667000" cy="80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24"/>
            <p:cNvSpPr txBox="1"/>
            <p:nvPr/>
          </p:nvSpPr>
          <p:spPr>
            <a:xfrm>
              <a:off x="142875" y="17208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57C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2000">
                <a:solidFill>
                  <a:srgbClr val="F57C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1" name="Google Shape;431;p24"/>
            <p:cNvSpPr txBox="1"/>
            <p:nvPr/>
          </p:nvSpPr>
          <p:spPr>
            <a:xfrm>
              <a:off x="619125" y="142875"/>
              <a:ext cx="1905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D35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Smart Filtering</a:t>
              </a:r>
              <a:endParaRPr b="1" sz="12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Rank by AI match score &amp; technical skills.</a:t>
              </a:r>
              <a:endParaRPr b="0" sz="10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432" name="Google Shape;43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1500"/>
            <a:ext cx="80010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4"/>
          <p:cNvSpPr txBox="1"/>
          <p:nvPr/>
        </p:nvSpPr>
        <p:spPr>
          <a:xfrm>
            <a:off x="571500" y="438150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helps recruiters identify the most relevant candidates quickly based on similarity scoring</a:t>
            </a:r>
            <a:endParaRPr i="1" sz="11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571500" y="4714875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b="0" sz="9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5" name="Google Shape;435;p24" title="Screenshot 2026-05-02 00155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" y="1033925"/>
            <a:ext cx="5188798" cy="323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381000" y="285750"/>
            <a:ext cx="8382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428625" y="333375"/>
            <a:ext cx="8286900" cy="4476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4775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5"/>
          <p:cNvSpPr txBox="1"/>
          <p:nvPr/>
        </p:nvSpPr>
        <p:spPr>
          <a:xfrm>
            <a:off x="571500" y="523875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Agile Development Methodology</a:t>
            </a:r>
            <a:endParaRPr b="1" sz="28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571500" y="90487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 Lifecycle: National Internship Portal</a:t>
            </a:r>
            <a:endParaRPr b="0" i="1" sz="14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3" name="Google Shape;4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276475"/>
            <a:ext cx="64389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5" y="1285875"/>
            <a:ext cx="7258200" cy="103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25"/>
          <p:cNvGrpSpPr/>
          <p:nvPr/>
        </p:nvGrpSpPr>
        <p:grpSpPr>
          <a:xfrm>
            <a:off x="952500" y="1504950"/>
            <a:ext cx="1333500" cy="1352550"/>
            <a:chOff x="0" y="-209550"/>
            <a:chExt cx="1333500" cy="1352550"/>
          </a:xfrm>
        </p:grpSpPr>
        <p:sp>
          <p:nvSpPr>
            <p:cNvPr id="446" name="Google Shape;446;p25"/>
            <p:cNvSpPr/>
            <p:nvPr/>
          </p:nvSpPr>
          <p:spPr>
            <a:xfrm>
              <a:off x="0" y="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457200" y="-209550"/>
              <a:ext cx="419100" cy="419100"/>
            </a:xfrm>
            <a:prstGeom prst="ellipse">
              <a:avLst/>
            </a:prstGeom>
            <a:solidFill>
              <a:srgbClr val="E3F2FD"/>
            </a:solidFill>
            <a:ln cap="flat" cmpd="sng" w="14300">
              <a:solidFill>
                <a:srgbClr val="1D35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5"/>
            <p:cNvSpPr txBox="1"/>
            <p:nvPr/>
          </p:nvSpPr>
          <p:spPr>
            <a:xfrm>
              <a:off x="476250" y="-1393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1D35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2200">
                <a:solidFill>
                  <a:srgbClr val="1D35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9" name="Google Shape;449;p25"/>
            <p:cNvSpPr txBox="1"/>
            <p:nvPr/>
          </p:nvSpPr>
          <p:spPr>
            <a:xfrm>
              <a:off x="95250" y="333375"/>
              <a:ext cx="114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D35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 Planning</a:t>
              </a:r>
              <a:endParaRPr b="1" sz="12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Req. Gathering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Design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50" name="Google Shape;450;p25"/>
          <p:cNvGrpSpPr/>
          <p:nvPr/>
        </p:nvGrpSpPr>
        <p:grpSpPr>
          <a:xfrm>
            <a:off x="2524125" y="1504950"/>
            <a:ext cx="1333500" cy="1352550"/>
            <a:chOff x="0" y="-209550"/>
            <a:chExt cx="1333500" cy="1352550"/>
          </a:xfrm>
        </p:grpSpPr>
        <p:sp>
          <p:nvSpPr>
            <p:cNvPr id="451" name="Google Shape;451;p25"/>
            <p:cNvSpPr/>
            <p:nvPr/>
          </p:nvSpPr>
          <p:spPr>
            <a:xfrm>
              <a:off x="0" y="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457200" y="-209550"/>
              <a:ext cx="419100" cy="419100"/>
            </a:xfrm>
            <a:prstGeom prst="ellipse">
              <a:avLst/>
            </a:prstGeom>
            <a:solidFill>
              <a:srgbClr val="FFF3E0"/>
            </a:solidFill>
            <a:ln cap="flat" cmpd="sng" w="14300">
              <a:solidFill>
                <a:srgbClr val="E651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5"/>
            <p:cNvSpPr txBox="1"/>
            <p:nvPr/>
          </p:nvSpPr>
          <p:spPr>
            <a:xfrm>
              <a:off x="476250" y="-1393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E651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200">
                <a:solidFill>
                  <a:srgbClr val="E651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4" name="Google Shape;454;p25"/>
            <p:cNvSpPr txBox="1"/>
            <p:nvPr/>
          </p:nvSpPr>
          <p:spPr>
            <a:xfrm>
              <a:off x="95250" y="333375"/>
              <a:ext cx="114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651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 Development</a:t>
              </a:r>
              <a:endParaRPr b="1" sz="1200">
                <a:solidFill>
                  <a:srgbClr val="E651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Backend APIs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Frontend UI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55" name="Google Shape;455;p25"/>
          <p:cNvGrpSpPr/>
          <p:nvPr/>
        </p:nvGrpSpPr>
        <p:grpSpPr>
          <a:xfrm>
            <a:off x="4095750" y="1504950"/>
            <a:ext cx="1333500" cy="1352550"/>
            <a:chOff x="0" y="-209550"/>
            <a:chExt cx="1333500" cy="1352550"/>
          </a:xfrm>
        </p:grpSpPr>
        <p:sp>
          <p:nvSpPr>
            <p:cNvPr id="456" name="Google Shape;456;p25"/>
            <p:cNvSpPr/>
            <p:nvPr/>
          </p:nvSpPr>
          <p:spPr>
            <a:xfrm>
              <a:off x="0" y="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457200" y="-209550"/>
              <a:ext cx="419100" cy="419100"/>
            </a:xfrm>
            <a:prstGeom prst="ellipse">
              <a:avLst/>
            </a:prstGeom>
            <a:solidFill>
              <a:srgbClr val="F3E5F5"/>
            </a:solidFill>
            <a:ln cap="flat" cmpd="sng" w="14300">
              <a:solidFill>
                <a:srgbClr val="7B1F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5"/>
            <p:cNvSpPr txBox="1"/>
            <p:nvPr/>
          </p:nvSpPr>
          <p:spPr>
            <a:xfrm>
              <a:off x="476250" y="-1393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7B1FA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science</a:t>
              </a:r>
              <a:endParaRPr sz="2200">
                <a:solidFill>
                  <a:srgbClr val="7B1FA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9" name="Google Shape;459;p25"/>
            <p:cNvSpPr txBox="1"/>
            <p:nvPr/>
          </p:nvSpPr>
          <p:spPr>
            <a:xfrm>
              <a:off x="95250" y="333375"/>
              <a:ext cx="114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7B1FA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 Testing</a:t>
              </a:r>
              <a:endParaRPr b="1" sz="1200">
                <a:solidFill>
                  <a:srgbClr val="7B1FA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Unit &amp; System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Validation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60" name="Google Shape;460;p25"/>
          <p:cNvGrpSpPr/>
          <p:nvPr/>
        </p:nvGrpSpPr>
        <p:grpSpPr>
          <a:xfrm>
            <a:off x="5667375" y="1504950"/>
            <a:ext cx="1333500" cy="1352550"/>
            <a:chOff x="0" y="-209550"/>
            <a:chExt cx="1333500" cy="1352550"/>
          </a:xfrm>
        </p:grpSpPr>
        <p:sp>
          <p:nvSpPr>
            <p:cNvPr id="461" name="Google Shape;461;p25"/>
            <p:cNvSpPr/>
            <p:nvPr/>
          </p:nvSpPr>
          <p:spPr>
            <a:xfrm>
              <a:off x="0" y="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5"/>
            <p:cNvSpPr/>
            <p:nvPr/>
          </p:nvSpPr>
          <p:spPr>
            <a:xfrm>
              <a:off x="457200" y="-209550"/>
              <a:ext cx="419100" cy="419100"/>
            </a:xfrm>
            <a:prstGeom prst="ellipse">
              <a:avLst/>
            </a:prstGeom>
            <a:solidFill>
              <a:srgbClr val="E8F5E9"/>
            </a:solidFill>
            <a:ln cap="flat" cmpd="sng" w="14300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5"/>
            <p:cNvSpPr txBox="1"/>
            <p:nvPr/>
          </p:nvSpPr>
          <p:spPr>
            <a:xfrm>
              <a:off x="476250" y="-1393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</a:t>
              </a:r>
              <a:endParaRPr sz="2200">
                <a:solidFill>
                  <a:srgbClr val="2E7D3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4" name="Google Shape;464;p25"/>
            <p:cNvSpPr txBox="1"/>
            <p:nvPr/>
          </p:nvSpPr>
          <p:spPr>
            <a:xfrm>
              <a:off x="95250" y="333375"/>
              <a:ext cx="114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E7D3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 Feedback</a:t>
              </a:r>
              <a:endParaRPr b="1" sz="1200">
                <a:solidFill>
                  <a:srgbClr val="2E7D3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 Fixing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Improvements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65" name="Google Shape;465;p25"/>
          <p:cNvGrpSpPr/>
          <p:nvPr/>
        </p:nvGrpSpPr>
        <p:grpSpPr>
          <a:xfrm>
            <a:off x="7239000" y="1504950"/>
            <a:ext cx="1333500" cy="1352550"/>
            <a:chOff x="0" y="-209550"/>
            <a:chExt cx="1333500" cy="1352550"/>
          </a:xfrm>
        </p:grpSpPr>
        <p:sp>
          <p:nvSpPr>
            <p:cNvPr id="466" name="Google Shape;466;p25"/>
            <p:cNvSpPr/>
            <p:nvPr/>
          </p:nvSpPr>
          <p:spPr>
            <a:xfrm>
              <a:off x="0" y="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5"/>
            <p:cNvSpPr/>
            <p:nvPr/>
          </p:nvSpPr>
          <p:spPr>
            <a:xfrm>
              <a:off x="457200" y="-209550"/>
              <a:ext cx="419100" cy="419100"/>
            </a:xfrm>
            <a:prstGeom prst="ellipse">
              <a:avLst/>
            </a:prstGeom>
            <a:solidFill>
              <a:srgbClr val="FFEBEE"/>
            </a:solidFill>
            <a:ln cap="flat" cmpd="sng" w="14300">
              <a:solidFill>
                <a:srgbClr val="C6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5"/>
            <p:cNvSpPr txBox="1"/>
            <p:nvPr/>
          </p:nvSpPr>
          <p:spPr>
            <a:xfrm>
              <a:off x="476250" y="-1393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C6282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200">
                <a:solidFill>
                  <a:srgbClr val="C6282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9" name="Google Shape;469;p25"/>
            <p:cNvSpPr txBox="1"/>
            <p:nvPr/>
          </p:nvSpPr>
          <p:spPr>
            <a:xfrm>
              <a:off x="95250" y="333375"/>
              <a:ext cx="114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C6282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 Deployment</a:t>
              </a:r>
              <a:endParaRPr b="1" sz="1200">
                <a:solidFill>
                  <a:srgbClr val="C6282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Final Launch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Site Release</a:t>
              </a:r>
              <a:endParaRPr b="0" sz="1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70" name="Google Shape;470;p25"/>
          <p:cNvGrpSpPr/>
          <p:nvPr/>
        </p:nvGrpSpPr>
        <p:grpSpPr>
          <a:xfrm>
            <a:off x="666750" y="3429000"/>
            <a:ext cx="1524000" cy="762000"/>
            <a:chOff x="0" y="0"/>
            <a:chExt cx="1524000" cy="762000"/>
          </a:xfrm>
        </p:grpSpPr>
        <p:sp>
          <p:nvSpPr>
            <p:cNvPr id="471" name="Google Shape;471;p25"/>
            <p:cNvSpPr/>
            <p:nvPr/>
          </p:nvSpPr>
          <p:spPr>
            <a:xfrm>
              <a:off x="0" y="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5"/>
            <p:cNvSpPr/>
            <p:nvPr/>
          </p:nvSpPr>
          <p:spPr>
            <a:xfrm>
              <a:off x="0" y="0"/>
              <a:ext cx="1524000" cy="238200"/>
            </a:xfrm>
            <a:prstGeom prst="roundRect">
              <a:avLst>
                <a:gd fmla="val 32000" name="adj"/>
              </a:avLst>
            </a:prstGeom>
            <a:solidFill>
              <a:srgbClr val="1D35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5"/>
            <p:cNvSpPr txBox="1"/>
            <p:nvPr/>
          </p:nvSpPr>
          <p:spPr>
            <a:xfrm>
              <a:off x="0" y="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Sprint 1</a:t>
              </a:r>
              <a:endParaRPr b="1"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4" name="Google Shape;474;p25"/>
            <p:cNvSpPr txBox="1"/>
            <p:nvPr/>
          </p:nvSpPr>
          <p:spPr>
            <a:xfrm>
              <a:off x="95250" y="285750"/>
              <a:ext cx="1333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Auth &amp; Database Structure</a:t>
              </a:r>
              <a:endParaRPr b="0" sz="85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75" name="Google Shape;475;p25"/>
          <p:cNvGrpSpPr/>
          <p:nvPr/>
        </p:nvGrpSpPr>
        <p:grpSpPr>
          <a:xfrm>
            <a:off x="2286000" y="3429000"/>
            <a:ext cx="1524000" cy="762000"/>
            <a:chOff x="0" y="0"/>
            <a:chExt cx="1524000" cy="762000"/>
          </a:xfrm>
        </p:grpSpPr>
        <p:sp>
          <p:nvSpPr>
            <p:cNvPr id="476" name="Google Shape;476;p25"/>
            <p:cNvSpPr/>
            <p:nvPr/>
          </p:nvSpPr>
          <p:spPr>
            <a:xfrm>
              <a:off x="0" y="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0" y="0"/>
              <a:ext cx="1524000" cy="238200"/>
            </a:xfrm>
            <a:prstGeom prst="roundRect">
              <a:avLst>
                <a:gd fmla="val 32000" name="adj"/>
              </a:avLst>
            </a:prstGeom>
            <a:solidFill>
              <a:srgbClr val="E651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5"/>
            <p:cNvSpPr txBox="1"/>
            <p:nvPr/>
          </p:nvSpPr>
          <p:spPr>
            <a:xfrm>
              <a:off x="0" y="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Sprint 2</a:t>
              </a:r>
              <a:endParaRPr b="1"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9" name="Google Shape;479;p25"/>
            <p:cNvSpPr txBox="1"/>
            <p:nvPr/>
          </p:nvSpPr>
          <p:spPr>
            <a:xfrm>
              <a:off x="95250" y="285750"/>
              <a:ext cx="1333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 Module &amp; Resume Parsing</a:t>
              </a:r>
              <a:endParaRPr b="0" sz="85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80" name="Google Shape;480;p25"/>
          <p:cNvGrpSpPr/>
          <p:nvPr/>
        </p:nvGrpSpPr>
        <p:grpSpPr>
          <a:xfrm>
            <a:off x="3905250" y="3429000"/>
            <a:ext cx="1524000" cy="762000"/>
            <a:chOff x="0" y="0"/>
            <a:chExt cx="1524000" cy="762000"/>
          </a:xfrm>
        </p:grpSpPr>
        <p:sp>
          <p:nvSpPr>
            <p:cNvPr id="481" name="Google Shape;481;p25"/>
            <p:cNvSpPr/>
            <p:nvPr/>
          </p:nvSpPr>
          <p:spPr>
            <a:xfrm>
              <a:off x="0" y="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0" y="0"/>
              <a:ext cx="1524000" cy="238200"/>
            </a:xfrm>
            <a:prstGeom prst="roundRect">
              <a:avLst>
                <a:gd fmla="val 32000" name="adj"/>
              </a:avLst>
            </a:prstGeom>
            <a:solidFill>
              <a:srgbClr val="7B1FA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5"/>
            <p:cNvSpPr txBox="1"/>
            <p:nvPr/>
          </p:nvSpPr>
          <p:spPr>
            <a:xfrm>
              <a:off x="0" y="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Sprint 3</a:t>
              </a:r>
              <a:endParaRPr b="1"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4" name="Google Shape;484;p25"/>
            <p:cNvSpPr txBox="1"/>
            <p:nvPr/>
          </p:nvSpPr>
          <p:spPr>
            <a:xfrm>
              <a:off x="95250" y="285750"/>
              <a:ext cx="1333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Company Portal &amp; Dashboards</a:t>
              </a:r>
              <a:endParaRPr b="0" sz="85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85" name="Google Shape;485;p25"/>
          <p:cNvGrpSpPr/>
          <p:nvPr/>
        </p:nvGrpSpPr>
        <p:grpSpPr>
          <a:xfrm>
            <a:off x="5524500" y="3429000"/>
            <a:ext cx="1524000" cy="762000"/>
            <a:chOff x="0" y="0"/>
            <a:chExt cx="1524000" cy="762000"/>
          </a:xfrm>
        </p:grpSpPr>
        <p:sp>
          <p:nvSpPr>
            <p:cNvPr id="486" name="Google Shape;486;p25"/>
            <p:cNvSpPr/>
            <p:nvPr/>
          </p:nvSpPr>
          <p:spPr>
            <a:xfrm>
              <a:off x="0" y="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0" y="0"/>
              <a:ext cx="1524000" cy="238200"/>
            </a:xfrm>
            <a:prstGeom prst="roundRect">
              <a:avLst>
                <a:gd fmla="val 32000" name="adj"/>
              </a:avLst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5"/>
            <p:cNvSpPr txBox="1"/>
            <p:nvPr/>
          </p:nvSpPr>
          <p:spPr>
            <a:xfrm>
              <a:off x="0" y="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Sprint 4</a:t>
              </a:r>
              <a:endParaRPr b="1"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9" name="Google Shape;489;p25"/>
            <p:cNvSpPr txBox="1"/>
            <p:nvPr/>
          </p:nvSpPr>
          <p:spPr>
            <a:xfrm>
              <a:off x="95250" y="285750"/>
              <a:ext cx="1333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Recommendation Engine</a:t>
              </a:r>
              <a:endParaRPr b="0" sz="85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90" name="Google Shape;490;p25"/>
          <p:cNvGrpSpPr/>
          <p:nvPr/>
        </p:nvGrpSpPr>
        <p:grpSpPr>
          <a:xfrm>
            <a:off x="7143750" y="3429000"/>
            <a:ext cx="1524000" cy="762000"/>
            <a:chOff x="0" y="0"/>
            <a:chExt cx="1524000" cy="762000"/>
          </a:xfrm>
        </p:grpSpPr>
        <p:sp>
          <p:nvSpPr>
            <p:cNvPr id="491" name="Google Shape;491;p25"/>
            <p:cNvSpPr/>
            <p:nvPr/>
          </p:nvSpPr>
          <p:spPr>
            <a:xfrm>
              <a:off x="0" y="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5"/>
            <p:cNvSpPr/>
            <p:nvPr/>
          </p:nvSpPr>
          <p:spPr>
            <a:xfrm>
              <a:off x="0" y="0"/>
              <a:ext cx="1524000" cy="238200"/>
            </a:xfrm>
            <a:prstGeom prst="roundRect">
              <a:avLst>
                <a:gd fmla="val 32000" name="adj"/>
              </a:avLst>
            </a:prstGeom>
            <a:solidFill>
              <a:srgbClr val="C628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5"/>
            <p:cNvSpPr txBox="1"/>
            <p:nvPr/>
          </p:nvSpPr>
          <p:spPr>
            <a:xfrm>
              <a:off x="0" y="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Sprint 5</a:t>
              </a:r>
              <a:endParaRPr b="1"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p25"/>
            <p:cNvSpPr txBox="1"/>
            <p:nvPr/>
          </p:nvSpPr>
          <p:spPr>
            <a:xfrm>
              <a:off x="95250" y="285750"/>
              <a:ext cx="1333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UI Polish, Security &amp; QA</a:t>
              </a:r>
              <a:endParaRPr b="0" sz="85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95" name="Google Shape;495;p25"/>
          <p:cNvSpPr txBox="1"/>
          <p:nvPr/>
        </p:nvSpPr>
        <p:spPr>
          <a:xfrm>
            <a:off x="571500" y="4667250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b="0" sz="9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6"/>
          <p:cNvSpPr txBox="1"/>
          <p:nvPr/>
        </p:nvSpPr>
        <p:spPr>
          <a:xfrm>
            <a:off x="571500" y="285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&amp; Results</a:t>
            </a:r>
            <a:endParaRPr b="1" sz="36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26"/>
          <p:cNvSpPr txBox="1"/>
          <p:nvPr/>
        </p:nvSpPr>
        <p:spPr>
          <a:xfrm>
            <a:off x="571500" y="809625"/>
            <a:ext cx="800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performance and validation</a:t>
            </a:r>
            <a:endParaRPr b="0" i="1" sz="1600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01" name="Google Shape;501;p26"/>
          <p:cNvGrpSpPr/>
          <p:nvPr/>
        </p:nvGrpSpPr>
        <p:grpSpPr>
          <a:xfrm>
            <a:off x="476250" y="1238250"/>
            <a:ext cx="2667000" cy="857400"/>
            <a:chOff x="-95250" y="-47625"/>
            <a:chExt cx="2667000" cy="857400"/>
          </a:xfrm>
        </p:grpSpPr>
        <p:sp>
          <p:nvSpPr>
            <p:cNvPr id="502" name="Google Shape;502;p26"/>
            <p:cNvSpPr/>
            <p:nvPr/>
          </p:nvSpPr>
          <p:spPr>
            <a:xfrm>
              <a:off x="-95250" y="-47625"/>
              <a:ext cx="2667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-95250" y="-4762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6"/>
            <p:cNvSpPr txBox="1"/>
            <p:nvPr/>
          </p:nvSpPr>
          <p:spPr>
            <a:xfrm>
              <a:off x="47625" y="225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science</a:t>
              </a:r>
              <a:endParaRPr b="0" sz="240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05" name="Google Shape;505;p26"/>
            <p:cNvSpPr txBox="1"/>
            <p:nvPr/>
          </p:nvSpPr>
          <p:spPr>
            <a:xfrm>
              <a:off x="523875" y="47625"/>
              <a:ext cx="18096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Unit Testing</a:t>
              </a:r>
              <a:endParaRPr b="1" sz="1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APIs tested individually</a:t>
              </a:r>
              <a:b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Modules validated</a:t>
              </a:r>
              <a:endParaRPr b="0" sz="11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06" name="Google Shape;506;p26"/>
          <p:cNvGrpSpPr/>
          <p:nvPr/>
        </p:nvGrpSpPr>
        <p:grpSpPr>
          <a:xfrm>
            <a:off x="476250" y="2238375"/>
            <a:ext cx="2667000" cy="857400"/>
            <a:chOff x="-95250" y="95250"/>
            <a:chExt cx="2667000" cy="857400"/>
          </a:xfrm>
        </p:grpSpPr>
        <p:sp>
          <p:nvSpPr>
            <p:cNvPr id="507" name="Google Shape;507;p26"/>
            <p:cNvSpPr/>
            <p:nvPr/>
          </p:nvSpPr>
          <p:spPr>
            <a:xfrm>
              <a:off x="-95250" y="95250"/>
              <a:ext cx="2667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-95250" y="9525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6"/>
            <p:cNvSpPr txBox="1"/>
            <p:nvPr/>
          </p:nvSpPr>
          <p:spPr>
            <a:xfrm>
              <a:off x="47625" y="3684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b="0" sz="240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0" name="Google Shape;510;p26"/>
            <p:cNvSpPr txBox="1"/>
            <p:nvPr/>
          </p:nvSpPr>
          <p:spPr>
            <a:xfrm>
              <a:off x="523875" y="190500"/>
              <a:ext cx="18096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Integration Testing</a:t>
              </a:r>
              <a:endParaRPr b="1" sz="1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Frontend + Backend tested</a:t>
              </a:r>
              <a:b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API communication verified</a:t>
              </a:r>
              <a:endParaRPr b="0" sz="11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1" name="Google Shape;511;p26"/>
          <p:cNvGrpSpPr/>
          <p:nvPr/>
        </p:nvGrpSpPr>
        <p:grpSpPr>
          <a:xfrm>
            <a:off x="476250" y="3238500"/>
            <a:ext cx="2667000" cy="857400"/>
            <a:chOff x="-95250" y="238125"/>
            <a:chExt cx="2667000" cy="857400"/>
          </a:xfrm>
        </p:grpSpPr>
        <p:sp>
          <p:nvSpPr>
            <p:cNvPr id="512" name="Google Shape;512;p26"/>
            <p:cNvSpPr/>
            <p:nvPr/>
          </p:nvSpPr>
          <p:spPr>
            <a:xfrm>
              <a:off x="-95250" y="238125"/>
              <a:ext cx="2667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-95250" y="23812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6"/>
            <p:cNvSpPr txBox="1"/>
            <p:nvPr/>
          </p:nvSpPr>
          <p:spPr>
            <a:xfrm>
              <a:off x="47625" y="511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b="0" sz="240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5" name="Google Shape;515;p26"/>
            <p:cNvSpPr txBox="1"/>
            <p:nvPr/>
          </p:nvSpPr>
          <p:spPr>
            <a:xfrm>
              <a:off x="523875" y="333375"/>
              <a:ext cx="18096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Testing</a:t>
              </a:r>
              <a:endParaRPr b="1" sz="1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End-to-end workflow tested</a:t>
              </a:r>
              <a:b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0" lang="en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 system validation</a:t>
              </a:r>
              <a:endParaRPr b="0" sz="11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6" name="Google Shape;516;p26"/>
          <p:cNvGrpSpPr/>
          <p:nvPr/>
        </p:nvGrpSpPr>
        <p:grpSpPr>
          <a:xfrm>
            <a:off x="3333750" y="1238250"/>
            <a:ext cx="2524200" cy="1143000"/>
            <a:chOff x="0" y="-47625"/>
            <a:chExt cx="2524200" cy="1143000"/>
          </a:xfrm>
        </p:grpSpPr>
        <p:sp>
          <p:nvSpPr>
            <p:cNvPr id="517" name="Google Shape;517;p26"/>
            <p:cNvSpPr/>
            <p:nvPr/>
          </p:nvSpPr>
          <p:spPr>
            <a:xfrm>
              <a:off x="0" y="-47625"/>
              <a:ext cx="2524200" cy="11430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6"/>
            <p:cNvSpPr txBox="1"/>
            <p:nvPr/>
          </p:nvSpPr>
          <p:spPr>
            <a:xfrm>
              <a:off x="142875" y="95250"/>
              <a:ext cx="22383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Recommendation Accuracy</a:t>
              </a:r>
              <a:endParaRPr b="1"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96.4%</a:t>
              </a:r>
              <a:endParaRPr b="0" sz="2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6A3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✔️ High Precision Match</a:t>
              </a:r>
              <a:endParaRPr b="0" sz="1000">
                <a:solidFill>
                  <a:srgbClr val="16A3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9" name="Google Shape;519;p26"/>
          <p:cNvGrpSpPr/>
          <p:nvPr/>
        </p:nvGrpSpPr>
        <p:grpSpPr>
          <a:xfrm>
            <a:off x="6048375" y="1238250"/>
            <a:ext cx="2524200" cy="1143000"/>
            <a:chOff x="-47625" y="-47625"/>
            <a:chExt cx="2524200" cy="1143000"/>
          </a:xfrm>
        </p:grpSpPr>
        <p:sp>
          <p:nvSpPr>
            <p:cNvPr id="520" name="Google Shape;520;p26"/>
            <p:cNvSpPr/>
            <p:nvPr/>
          </p:nvSpPr>
          <p:spPr>
            <a:xfrm>
              <a:off x="-47625" y="-47625"/>
              <a:ext cx="2524200" cy="11430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6"/>
            <p:cNvSpPr txBox="1"/>
            <p:nvPr/>
          </p:nvSpPr>
          <p:spPr>
            <a:xfrm>
              <a:off x="95250" y="95250"/>
              <a:ext cx="22383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API Response Time</a:t>
              </a:r>
              <a:endParaRPr b="1"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&lt; 280ms</a:t>
              </a:r>
              <a:endParaRPr b="0" sz="2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6A3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⚡ Ultra-Fast Processing</a:t>
              </a:r>
              <a:endParaRPr b="0" sz="1000">
                <a:solidFill>
                  <a:srgbClr val="16A3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22" name="Google Shape;522;p26"/>
          <p:cNvGrpSpPr/>
          <p:nvPr/>
        </p:nvGrpSpPr>
        <p:grpSpPr>
          <a:xfrm>
            <a:off x="3333750" y="2524125"/>
            <a:ext cx="2524200" cy="1428900"/>
            <a:chOff x="0" y="47625"/>
            <a:chExt cx="2524200" cy="1428900"/>
          </a:xfrm>
        </p:grpSpPr>
        <p:sp>
          <p:nvSpPr>
            <p:cNvPr id="523" name="Google Shape;523;p26"/>
            <p:cNvSpPr/>
            <p:nvPr/>
          </p:nvSpPr>
          <p:spPr>
            <a:xfrm>
              <a:off x="0" y="47625"/>
              <a:ext cx="2524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6"/>
            <p:cNvSpPr txBox="1"/>
            <p:nvPr/>
          </p:nvSpPr>
          <p:spPr>
            <a:xfrm>
              <a:off x="142875" y="142875"/>
              <a:ext cx="22383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Validation Checks</a:t>
              </a:r>
              <a:endParaRPr b="1"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✔️ Secure Authentication</a:t>
              </a:r>
              <a:endParaRPr b="0" sz="10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✔️ Database Persistence</a:t>
              </a:r>
              <a:endParaRPr b="0" sz="10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✔️ NLP Resume Parsing</a:t>
              </a:r>
              <a:endParaRPr b="0" sz="10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✔️ Role Access Control</a:t>
              </a:r>
              <a:endParaRPr b="0" sz="10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25" name="Google Shape;525;p26"/>
          <p:cNvGrpSpPr/>
          <p:nvPr/>
        </p:nvGrpSpPr>
        <p:grpSpPr>
          <a:xfrm>
            <a:off x="6048375" y="2524125"/>
            <a:ext cx="2524200" cy="1428900"/>
            <a:chOff x="-47625" y="47625"/>
            <a:chExt cx="2524200" cy="1428900"/>
          </a:xfrm>
        </p:grpSpPr>
        <p:sp>
          <p:nvSpPr>
            <p:cNvPr id="526" name="Google Shape;526;p26"/>
            <p:cNvSpPr/>
            <p:nvPr/>
          </p:nvSpPr>
          <p:spPr>
            <a:xfrm>
              <a:off x="-47625" y="47625"/>
              <a:ext cx="2524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7" name="Google Shape;527;p26"/>
            <p:cNvPicPr preferRelativeResize="0"/>
            <p:nvPr/>
          </p:nvPicPr>
          <p:blipFill rotWithShape="1">
            <a:blip r:embed="rId4">
              <a:alphaModFix/>
            </a:blip>
            <a:srcRect b="9574" l="0" r="0" t="9566"/>
            <a:stretch/>
          </p:blipFill>
          <p:spPr>
            <a:xfrm>
              <a:off x="-47625" y="47625"/>
              <a:ext cx="2524200" cy="1428900"/>
            </a:xfrm>
            <a:prstGeom prst="roundRect">
              <a:avLst>
                <a:gd fmla="val 10666" name="adj"/>
              </a:avLst>
            </a:prstGeom>
            <a:noFill/>
            <a:ln>
              <a:noFill/>
            </a:ln>
          </p:spPr>
        </p:pic>
        <p:sp>
          <p:nvSpPr>
            <p:cNvPr id="528" name="Google Shape;528;p26"/>
            <p:cNvSpPr/>
            <p:nvPr/>
          </p:nvSpPr>
          <p:spPr>
            <a:xfrm>
              <a:off x="-47625" y="47625"/>
              <a:ext cx="2524200" cy="1428900"/>
            </a:xfrm>
            <a:prstGeom prst="roundRect">
              <a:avLst>
                <a:gd fmla="val 10666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6"/>
            <p:cNvSpPr txBox="1"/>
            <p:nvPr/>
          </p:nvSpPr>
          <p:spPr>
            <a:xfrm>
              <a:off x="-47625" y="1190625"/>
              <a:ext cx="2524200" cy="2859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 Analytics View</a:t>
              </a:r>
              <a:endParaRPr b="1" sz="10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30" name="Google Shape;530;p26"/>
          <p:cNvGrpSpPr/>
          <p:nvPr/>
        </p:nvGrpSpPr>
        <p:grpSpPr>
          <a:xfrm>
            <a:off x="666750" y="4095750"/>
            <a:ext cx="7810650" cy="476400"/>
            <a:chOff x="95250" y="190500"/>
            <a:chExt cx="7810650" cy="476400"/>
          </a:xfrm>
        </p:grpSpPr>
        <p:sp>
          <p:nvSpPr>
            <p:cNvPr id="531" name="Google Shape;531;p26"/>
            <p:cNvSpPr txBox="1"/>
            <p:nvPr/>
          </p:nvSpPr>
          <p:spPr>
            <a:xfrm>
              <a:off x="95250" y="2731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b="0"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32" name="Google Shape;532;p26"/>
            <p:cNvSpPr txBox="1"/>
            <p:nvPr/>
          </p:nvSpPr>
          <p:spPr>
            <a:xfrm>
              <a:off x="571500" y="190500"/>
              <a:ext cx="7334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matches students with internships based on skills, </a:t>
              </a:r>
              <a:r>
                <a:rPr b="1" i="1" lang="en" sz="130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improving accuracy</a:t>
              </a:r>
              <a:r>
                <a:rPr b="0" i="1" lang="en" sz="13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i="1" lang="en" sz="130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reducing irrelevant applications by 70%+</a:t>
              </a:r>
              <a:r>
                <a:rPr b="0" i="1" lang="en" sz="13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i="1" sz="13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33" name="Google Shape;533;p26"/>
          <p:cNvSpPr txBox="1"/>
          <p:nvPr/>
        </p:nvSpPr>
        <p:spPr>
          <a:xfrm>
            <a:off x="571500" y="4714875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F8C8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sz="900">
              <a:solidFill>
                <a:srgbClr val="7F8C8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26" title="Screenshot 2026-05-02 001401.png"/>
          <p:cNvPicPr preferRelativeResize="0"/>
          <p:nvPr/>
        </p:nvPicPr>
        <p:blipFill rotWithShape="1">
          <a:blip r:embed="rId5">
            <a:alphaModFix/>
          </a:blip>
          <a:srcRect b="0" l="0" r="-1792" t="0"/>
          <a:stretch/>
        </p:blipFill>
        <p:spPr>
          <a:xfrm>
            <a:off x="5997525" y="2571750"/>
            <a:ext cx="2524199" cy="1363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238" y="1909763"/>
            <a:ext cx="7601100" cy="9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9" name="Google Shape;539;p27"/>
          <p:cNvGrpSpPr/>
          <p:nvPr/>
        </p:nvGrpSpPr>
        <p:grpSpPr>
          <a:xfrm>
            <a:off x="571500" y="381000"/>
            <a:ext cx="8001000" cy="714525"/>
            <a:chOff x="0" y="0"/>
            <a:chExt cx="8001000" cy="714525"/>
          </a:xfrm>
        </p:grpSpPr>
        <p:sp>
          <p:nvSpPr>
            <p:cNvPr id="540" name="Google Shape;540;p27"/>
            <p:cNvSpPr txBox="1"/>
            <p:nvPr/>
          </p:nvSpPr>
          <p:spPr>
            <a:xfrm>
              <a:off x="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Scope</a:t>
              </a:r>
              <a:endParaRPr b="1" sz="28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1" name="Google Shape;541;p27"/>
            <p:cNvSpPr txBox="1"/>
            <p:nvPr/>
          </p:nvSpPr>
          <p:spPr>
            <a:xfrm>
              <a:off x="0" y="4286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400">
                  <a:solidFill>
                    <a:srgbClr val="1D35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Enhancing the platform with advanced features</a:t>
              </a:r>
              <a:endParaRPr i="1" sz="14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42" name="Google Shape;542;p27"/>
          <p:cNvGrpSpPr/>
          <p:nvPr/>
        </p:nvGrpSpPr>
        <p:grpSpPr>
          <a:xfrm>
            <a:off x="571500" y="1714500"/>
            <a:ext cx="1524000" cy="1047900"/>
            <a:chOff x="0" y="0"/>
            <a:chExt cx="1524000" cy="1047900"/>
          </a:xfrm>
        </p:grpSpPr>
        <p:sp>
          <p:nvSpPr>
            <p:cNvPr id="543" name="Google Shape;543;p27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7"/>
            <p:cNvSpPr txBox="1"/>
            <p:nvPr/>
          </p:nvSpPr>
          <p:spPr>
            <a:xfrm>
              <a:off x="95250" y="127381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1976D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220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45" name="Google Shape;545;p27"/>
            <p:cNvSpPr txBox="1"/>
            <p:nvPr/>
          </p:nvSpPr>
          <p:spPr>
            <a:xfrm>
              <a:off x="95250" y="47625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Advanced AI</a:t>
              </a:r>
              <a:endParaRPr b="1" sz="111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LLMs &amp; BERT Integration</a:t>
              </a:r>
              <a:endParaRPr sz="925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46" name="Google Shape;546;p27"/>
          <p:cNvGrpSpPr/>
          <p:nvPr/>
        </p:nvGrpSpPr>
        <p:grpSpPr>
          <a:xfrm>
            <a:off x="2286000" y="2286000"/>
            <a:ext cx="1524000" cy="1047900"/>
            <a:chOff x="0" y="0"/>
            <a:chExt cx="1524000" cy="1047900"/>
          </a:xfrm>
        </p:grpSpPr>
        <p:sp>
          <p:nvSpPr>
            <p:cNvPr id="547" name="Google Shape;547;p27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7"/>
            <p:cNvSpPr txBox="1"/>
            <p:nvPr/>
          </p:nvSpPr>
          <p:spPr>
            <a:xfrm>
              <a:off x="95250" y="127381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1976D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event_available</a:t>
              </a:r>
              <a:endParaRPr sz="220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49" name="Google Shape;549;p27"/>
            <p:cNvSpPr txBox="1"/>
            <p:nvPr/>
          </p:nvSpPr>
          <p:spPr>
            <a:xfrm>
              <a:off x="95250" y="47625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Interview Booking</a:t>
              </a:r>
              <a:endParaRPr b="1" sz="111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Calendar API Automation</a:t>
              </a:r>
              <a:endParaRPr sz="925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50" name="Google Shape;550;p27"/>
          <p:cNvGrpSpPr/>
          <p:nvPr/>
        </p:nvGrpSpPr>
        <p:grpSpPr>
          <a:xfrm>
            <a:off x="4000500" y="1714500"/>
            <a:ext cx="1524000" cy="1047900"/>
            <a:chOff x="0" y="0"/>
            <a:chExt cx="1524000" cy="1047900"/>
          </a:xfrm>
        </p:grpSpPr>
        <p:sp>
          <p:nvSpPr>
            <p:cNvPr id="551" name="Google Shape;551;p27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7"/>
            <p:cNvSpPr txBox="1"/>
            <p:nvPr/>
          </p:nvSpPr>
          <p:spPr>
            <a:xfrm>
              <a:off x="95250" y="127381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1976D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20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53" name="Google Shape;553;p27"/>
            <p:cNvSpPr txBox="1"/>
            <p:nvPr/>
          </p:nvSpPr>
          <p:spPr>
            <a:xfrm>
              <a:off x="95250" y="47625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Coding Tests</a:t>
              </a:r>
              <a:endParaRPr b="1" sz="111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In-platform Evaluation</a:t>
              </a:r>
              <a:endParaRPr sz="925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54" name="Google Shape;554;p27"/>
          <p:cNvGrpSpPr/>
          <p:nvPr/>
        </p:nvGrpSpPr>
        <p:grpSpPr>
          <a:xfrm>
            <a:off x="5715000" y="2286000"/>
            <a:ext cx="1524000" cy="1047900"/>
            <a:chOff x="0" y="0"/>
            <a:chExt cx="1524000" cy="1047900"/>
          </a:xfrm>
        </p:grpSpPr>
        <p:sp>
          <p:nvSpPr>
            <p:cNvPr id="555" name="Google Shape;555;p27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1E8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7"/>
            <p:cNvSpPr txBox="1"/>
            <p:nvPr/>
          </p:nvSpPr>
          <p:spPr>
            <a:xfrm>
              <a:off x="95250" y="127381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1976D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phonelink_setup</a:t>
              </a:r>
              <a:endParaRPr sz="220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57" name="Google Shape;557;p27"/>
            <p:cNvSpPr txBox="1"/>
            <p:nvPr/>
          </p:nvSpPr>
          <p:spPr>
            <a:xfrm>
              <a:off x="95250" y="47625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0A25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Mobile App</a:t>
              </a:r>
              <a:endParaRPr b="1" sz="111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React Native Solution</a:t>
              </a:r>
              <a:endParaRPr sz="925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58" name="Google Shape;558;p27"/>
          <p:cNvGrpSpPr/>
          <p:nvPr/>
        </p:nvGrpSpPr>
        <p:grpSpPr>
          <a:xfrm>
            <a:off x="7429500" y="1333500"/>
            <a:ext cx="1524000" cy="1047900"/>
            <a:chOff x="0" y="0"/>
            <a:chExt cx="1524000" cy="1047900"/>
          </a:xfrm>
        </p:grpSpPr>
        <p:sp>
          <p:nvSpPr>
            <p:cNvPr id="559" name="Google Shape;559;p27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9050">
              <a:solidFill>
                <a:srgbClr val="1976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7"/>
            <p:cNvSpPr txBox="1"/>
            <p:nvPr/>
          </p:nvSpPr>
          <p:spPr>
            <a:xfrm>
              <a:off x="95250" y="127381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F57C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200">
                <a:solidFill>
                  <a:srgbClr val="F57C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61" name="Google Shape;561;p27"/>
            <p:cNvSpPr txBox="1"/>
            <p:nvPr/>
          </p:nvSpPr>
          <p:spPr>
            <a:xfrm>
              <a:off x="95250" y="47625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1976D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Career Vision</a:t>
              </a:r>
              <a:endParaRPr b="1" sz="1110">
                <a:solidFill>
                  <a:srgbClr val="1976D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Complete Career Platform</a:t>
              </a:r>
              <a:endParaRPr sz="925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descr="Futuristic digital connectivity background with glowing blue nodes and thin lines representing a network of opportunities and growth." id="562" name="Google Shape;562;p27"/>
          <p:cNvPicPr preferRelativeResize="0"/>
          <p:nvPr/>
        </p:nvPicPr>
        <p:blipFill rotWithShape="1">
          <a:blip r:embed="rId4">
            <a:alphaModFix/>
          </a:blip>
          <a:srcRect b="0" l="0" r="0" t="33333"/>
          <a:stretch/>
        </p:blipFill>
        <p:spPr>
          <a:xfrm>
            <a:off x="3143250" y="3524250"/>
            <a:ext cx="2857500" cy="1905000"/>
          </a:xfrm>
          <a:prstGeom prst="roundRect">
            <a:avLst>
              <a:gd fmla="val 10000" name="adj"/>
            </a:avLst>
          </a:prstGeom>
          <a:noFill/>
          <a:ln>
            <a:noFill/>
          </a:ln>
        </p:spPr>
      </p:pic>
      <p:sp>
        <p:nvSpPr>
          <p:cNvPr id="563" name="Google Shape;563;p27"/>
          <p:cNvSpPr txBox="1"/>
          <p:nvPr/>
        </p:nvSpPr>
        <p:spPr>
          <a:xfrm>
            <a:off x="571500" y="4714875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F8C8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sz="900">
              <a:solidFill>
                <a:srgbClr val="7F8C8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ubtle, minimalist abstract background with soft blue glowing lines and nodes representing a clean tech network." id="568" name="Google Shape;5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8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Q&amp;A</a:t>
            </a:r>
            <a:endParaRPr b="1" sz="32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p28"/>
          <p:cNvSpPr txBox="1"/>
          <p:nvPr/>
        </p:nvSpPr>
        <p:spPr>
          <a:xfrm>
            <a:off x="2190750" y="1333500"/>
            <a:ext cx="4762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AI-powered system for smart internship matching</a:t>
            </a:r>
            <a:endParaRPr b="0" sz="1400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Improves hiring accuracy and reduces effort</a:t>
            </a:r>
            <a:endParaRPr b="0" sz="1400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Bridges gap between students and companies</a:t>
            </a:r>
            <a:endParaRPr b="0" sz="1400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571500" y="25717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976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smarter, faster, and more efficient recruitment solution.</a:t>
            </a:r>
            <a:endParaRPr b="1" sz="1800">
              <a:solidFill>
                <a:srgbClr val="1976D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28"/>
          <p:cNvSpPr txBox="1"/>
          <p:nvPr/>
        </p:nvSpPr>
        <p:spPr>
          <a:xfrm>
            <a:off x="4333875" y="4053078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rocket_launch</a:t>
            </a:r>
            <a:endParaRPr sz="3060">
              <a:solidFill>
                <a:srgbClr val="1976D2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73" name="Google Shape;573;p28"/>
          <p:cNvSpPr txBox="1"/>
          <p:nvPr/>
        </p:nvSpPr>
        <p:spPr>
          <a:xfrm>
            <a:off x="571500" y="433387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b="0" i="1" sz="16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28"/>
          <p:cNvSpPr txBox="1"/>
          <p:nvPr/>
        </p:nvSpPr>
        <p:spPr>
          <a:xfrm>
            <a:off x="571500" y="4762500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F8C8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 | 2026</a:t>
            </a:r>
            <a:endParaRPr sz="900">
              <a:solidFill>
                <a:srgbClr val="7F8C8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9" name="Google Shape;5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2063" y="-738187"/>
            <a:ext cx="6619800" cy="58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29"/>
          <p:cNvGrpSpPr/>
          <p:nvPr/>
        </p:nvGrpSpPr>
        <p:grpSpPr>
          <a:xfrm>
            <a:off x="1995488" y="995363"/>
            <a:ext cx="5148263" cy="1438200"/>
            <a:chOff x="-4762" y="233363"/>
            <a:chExt cx="5148263" cy="1438200"/>
          </a:xfrm>
        </p:grpSpPr>
        <p:pic>
          <p:nvPicPr>
            <p:cNvPr id="582" name="Google Shape;58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233363"/>
              <a:ext cx="3819600" cy="48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1185863"/>
              <a:ext cx="5143500" cy="485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4" name="Google Shape;584;p29"/>
          <p:cNvSpPr txBox="1"/>
          <p:nvPr/>
        </p:nvSpPr>
        <p:spPr>
          <a:xfrm>
            <a:off x="571500" y="142875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A2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1" sz="7200">
              <a:solidFill>
                <a:srgbClr val="0A2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29"/>
          <p:cNvSpPr txBox="1"/>
          <p:nvPr/>
        </p:nvSpPr>
        <p:spPr>
          <a:xfrm>
            <a:off x="571500" y="25717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800">
                <a:solidFill>
                  <a:srgbClr val="1976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Transforming internships with intelligence.</a:t>
            </a:r>
            <a:endParaRPr b="0" i="1" sz="1800">
              <a:solidFill>
                <a:srgbClr val="1976D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29"/>
          <p:cNvSpPr txBox="1"/>
          <p:nvPr/>
        </p:nvSpPr>
        <p:spPr>
          <a:xfrm>
            <a:off x="4286250" y="3291078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rocket_launch</a:t>
            </a:r>
            <a:endParaRPr sz="3600">
              <a:solidFill>
                <a:srgbClr val="1976D2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87" name="Google Shape;587;p29"/>
          <p:cNvSpPr txBox="1"/>
          <p:nvPr/>
        </p:nvSpPr>
        <p:spPr>
          <a:xfrm>
            <a:off x="571500" y="39052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D3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b="1" sz="1400">
              <a:solidFill>
                <a:srgbClr val="1D3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29"/>
          <p:cNvSpPr txBox="1"/>
          <p:nvPr/>
        </p:nvSpPr>
        <p:spPr>
          <a:xfrm>
            <a:off x="571500" y="41910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7F8C8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Internship Portal – AI-Powered Recommendation System</a:t>
            </a:r>
            <a:endParaRPr b="0" sz="1000">
              <a:solidFill>
                <a:srgbClr val="7F8C8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7F8C8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Asit Kumar &amp; Project Team | 2026</a:t>
            </a:r>
            <a:endParaRPr b="0" sz="1000">
              <a:solidFill>
                <a:srgbClr val="7F8C8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